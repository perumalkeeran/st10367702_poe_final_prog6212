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Open Sauce Bold" charset="1" panose="00000800000000000000"/>
      <p:regular r:id="rId21"/>
    </p:embeddedFont>
    <p:embeddedFont>
      <p:font typeface="Open Sauce Heavy" charset="1" panose="00000A00000000000000"/>
      <p:regular r:id="rId22"/>
    </p:embeddedFont>
    <p:embeddedFont>
      <p:font typeface="Open Sauce" charset="1" panose="00000500000000000000"/>
      <p:regular r:id="rId23"/>
    </p:embeddedFont>
    <p:embeddedFont>
      <p:font typeface="Open Sauce Medium" charset="1" panose="00000600000000000000"/>
      <p:regular r:id="rId24"/>
    </p:embeddedFont>
    <p:embeddedFont>
      <p:font typeface="Open Sauce Light" charset="1" panose="000004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ithub.com/PerumalKeeran/st10367702_POE_Final_PROG6212"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481179" y="576468"/>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5443169" y="-2557831"/>
            <a:ext cx="7401663" cy="18288000"/>
          </a:xfrm>
          <a:custGeom>
            <a:avLst/>
            <a:gdLst/>
            <a:ahLst/>
            <a:cxnLst/>
            <a:rect r="r" b="b" t="t" l="l"/>
            <a:pathLst>
              <a:path h="18288000" w="7401663">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t="0" r="0" b="0"/>
            </a:stretch>
          </a:blipFill>
        </p:spPr>
      </p:sp>
      <p:sp>
        <p:nvSpPr>
          <p:cNvPr name="TextBox 6" id="6"/>
          <p:cNvSpPr txBox="true"/>
          <p:nvPr/>
        </p:nvSpPr>
        <p:spPr>
          <a:xfrm rot="0">
            <a:off x="667764" y="638469"/>
            <a:ext cx="1662550" cy="364456"/>
          </a:xfrm>
          <a:prstGeom prst="rect">
            <a:avLst/>
          </a:prstGeom>
        </p:spPr>
        <p:txBody>
          <a:bodyPr anchor="t" rtlCol="false" tIns="0" lIns="0" bIns="0" rIns="0">
            <a:spAutoFit/>
          </a:bodyPr>
          <a:lstStyle/>
          <a:p>
            <a:pPr algn="ctr" marL="0" indent="0" lvl="0">
              <a:lnSpc>
                <a:spcPts val="3011"/>
              </a:lnSpc>
              <a:spcBef>
                <a:spcPct val="0"/>
              </a:spcBef>
            </a:pPr>
            <a:r>
              <a:rPr lang="en-US" b="true" sz="2151" spc="4">
                <a:solidFill>
                  <a:srgbClr val="FFFFFF"/>
                </a:solidFill>
                <a:latin typeface="Open Sauce Bold"/>
                <a:ea typeface="Open Sauce Bold"/>
                <a:cs typeface="Open Sauce Bold"/>
                <a:sym typeface="Open Sauce Bold"/>
              </a:rPr>
              <a:t>Home</a:t>
            </a:r>
          </a:p>
        </p:txBody>
      </p:sp>
      <p:sp>
        <p:nvSpPr>
          <p:cNvPr name="TextBox 7" id="7"/>
          <p:cNvSpPr txBox="true"/>
          <p:nvPr/>
        </p:nvSpPr>
        <p:spPr>
          <a:xfrm rot="0">
            <a:off x="2330314" y="680754"/>
            <a:ext cx="1907082" cy="34794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A6A6A6"/>
                </a:solidFill>
                <a:latin typeface="Open Sauce Bold"/>
                <a:ea typeface="Open Sauce Bold"/>
                <a:cs typeface="Open Sauce Bold"/>
                <a:sym typeface="Open Sauce Bold"/>
              </a:rPr>
              <a:t>Submit Claims</a:t>
            </a:r>
          </a:p>
        </p:txBody>
      </p:sp>
      <p:sp>
        <p:nvSpPr>
          <p:cNvPr name="TextBox 8" id="8"/>
          <p:cNvSpPr txBox="true"/>
          <p:nvPr/>
        </p:nvSpPr>
        <p:spPr>
          <a:xfrm rot="0">
            <a:off x="4712977" y="680754"/>
            <a:ext cx="1589190" cy="34794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A6A6A6"/>
                </a:solidFill>
                <a:latin typeface="Open Sauce Bold"/>
                <a:ea typeface="Open Sauce Bold"/>
                <a:cs typeface="Open Sauce Bold"/>
                <a:sym typeface="Open Sauce Bold"/>
              </a:rPr>
              <a:t>My Claims</a:t>
            </a:r>
          </a:p>
        </p:txBody>
      </p:sp>
      <p:sp>
        <p:nvSpPr>
          <p:cNvPr name="TextBox 9" id="9"/>
          <p:cNvSpPr txBox="true"/>
          <p:nvPr/>
        </p:nvSpPr>
        <p:spPr>
          <a:xfrm rot="0">
            <a:off x="6778417" y="680754"/>
            <a:ext cx="3226157" cy="34794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A6A6A6"/>
                </a:solidFill>
                <a:latin typeface="Open Sauce Bold"/>
                <a:ea typeface="Open Sauce Bold"/>
                <a:cs typeface="Open Sauce Bold"/>
                <a:sym typeface="Open Sauce Bold"/>
              </a:rPr>
              <a:t>Coordinator Dashboard</a:t>
            </a:r>
          </a:p>
        </p:txBody>
      </p:sp>
      <p:sp>
        <p:nvSpPr>
          <p:cNvPr name="TextBox 10" id="10"/>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01</a:t>
            </a:r>
          </a:p>
        </p:txBody>
      </p:sp>
      <p:sp>
        <p:nvSpPr>
          <p:cNvPr name="TextBox 11" id="11"/>
          <p:cNvSpPr txBox="true"/>
          <p:nvPr/>
        </p:nvSpPr>
        <p:spPr>
          <a:xfrm rot="0">
            <a:off x="12511960" y="7948962"/>
            <a:ext cx="2742777" cy="363065"/>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Open Sauce Heavy"/>
                <a:ea typeface="Open Sauce Heavy"/>
                <a:cs typeface="Open Sauce Heavy"/>
                <a:sym typeface="Open Sauce Heavy"/>
              </a:rPr>
              <a:t>Keeran Perumal</a:t>
            </a:r>
          </a:p>
        </p:txBody>
      </p:sp>
      <p:sp>
        <p:nvSpPr>
          <p:cNvPr name="TextBox 12" id="12"/>
          <p:cNvSpPr txBox="true"/>
          <p:nvPr/>
        </p:nvSpPr>
        <p:spPr>
          <a:xfrm rot="0">
            <a:off x="12511960" y="8393973"/>
            <a:ext cx="1761862" cy="363065"/>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Open Sauce"/>
                <a:ea typeface="Open Sauce"/>
                <a:cs typeface="Open Sauce"/>
                <a:sym typeface="Open Sauce"/>
              </a:rPr>
              <a:t>St10367702</a:t>
            </a:r>
          </a:p>
        </p:txBody>
      </p:sp>
      <p:sp>
        <p:nvSpPr>
          <p:cNvPr name="TextBox 13" id="13"/>
          <p:cNvSpPr txBox="true"/>
          <p:nvPr/>
        </p:nvSpPr>
        <p:spPr>
          <a:xfrm rot="0">
            <a:off x="4887504" y="4745417"/>
            <a:ext cx="7722739" cy="1398222"/>
          </a:xfrm>
          <a:prstGeom prst="rect">
            <a:avLst/>
          </a:prstGeom>
        </p:spPr>
        <p:txBody>
          <a:bodyPr anchor="t" rtlCol="false" tIns="0" lIns="0" bIns="0" rIns="0">
            <a:spAutoFit/>
          </a:bodyPr>
          <a:lstStyle/>
          <a:p>
            <a:pPr algn="ctr" marL="0" indent="0" lvl="0">
              <a:lnSpc>
                <a:spcPts val="11484"/>
              </a:lnSpc>
              <a:spcBef>
                <a:spcPct val="0"/>
              </a:spcBef>
            </a:pPr>
            <a:r>
              <a:rPr lang="en-US" b="true" sz="8203" spc="-385">
                <a:solidFill>
                  <a:srgbClr val="FFFFFF"/>
                </a:solidFill>
                <a:latin typeface="Open Sauce Medium"/>
                <a:ea typeface="Open Sauce Medium"/>
                <a:cs typeface="Open Sauce Medium"/>
                <a:sym typeface="Open Sauce Medium"/>
              </a:rPr>
              <a:t>PROG6212</a:t>
            </a:r>
          </a:p>
        </p:txBody>
      </p:sp>
      <p:sp>
        <p:nvSpPr>
          <p:cNvPr name="TextBox 14" id="14"/>
          <p:cNvSpPr txBox="true"/>
          <p:nvPr/>
        </p:nvSpPr>
        <p:spPr>
          <a:xfrm rot="0">
            <a:off x="4237396" y="2024562"/>
            <a:ext cx="9052468" cy="2298271"/>
          </a:xfrm>
          <a:prstGeom prst="rect">
            <a:avLst/>
          </a:prstGeom>
        </p:spPr>
        <p:txBody>
          <a:bodyPr anchor="t" rtlCol="false" tIns="0" lIns="0" bIns="0" rIns="0">
            <a:spAutoFit/>
          </a:bodyPr>
          <a:lstStyle/>
          <a:p>
            <a:pPr algn="ctr" marL="0" indent="0" lvl="0">
              <a:lnSpc>
                <a:spcPts val="9298"/>
              </a:lnSpc>
              <a:spcBef>
                <a:spcPct val="0"/>
              </a:spcBef>
            </a:pPr>
            <a:r>
              <a:rPr lang="en-US" sz="6641" spc="-312">
                <a:solidFill>
                  <a:srgbClr val="FFFFFF"/>
                </a:solidFill>
                <a:latin typeface="Open Sauce Light"/>
                <a:ea typeface="Open Sauce Light"/>
                <a:cs typeface="Open Sauce Light"/>
                <a:sym typeface="Open Sauce Light"/>
              </a:rPr>
              <a:t>Contract Monthly Claim System (CMCS)</a:t>
            </a:r>
          </a:p>
        </p:txBody>
      </p:sp>
      <p:grpSp>
        <p:nvGrpSpPr>
          <p:cNvPr name="Group 15" id="15"/>
          <p:cNvGrpSpPr/>
          <p:nvPr/>
        </p:nvGrpSpPr>
        <p:grpSpPr>
          <a:xfrm rot="0">
            <a:off x="8184285" y="6586169"/>
            <a:ext cx="1919429" cy="566532"/>
            <a:chOff x="0" y="0"/>
            <a:chExt cx="505529" cy="149210"/>
          </a:xfrm>
        </p:grpSpPr>
        <p:sp>
          <p:nvSpPr>
            <p:cNvPr name="Freeform 16" id="16"/>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17" id="17"/>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8203335" y="6680522"/>
            <a:ext cx="1925411" cy="323215"/>
          </a:xfrm>
          <a:prstGeom prst="rect">
            <a:avLst/>
          </a:prstGeom>
        </p:spPr>
        <p:txBody>
          <a:bodyPr anchor="t" rtlCol="false" tIns="0" lIns="0" bIns="0" rIns="0">
            <a:spAutoFit/>
          </a:bodyPr>
          <a:lstStyle/>
          <a:p>
            <a:pPr algn="ctr">
              <a:lnSpc>
                <a:spcPts val="2659"/>
              </a:lnSpc>
              <a:spcBef>
                <a:spcPct val="0"/>
              </a:spcBef>
            </a:pPr>
            <a:r>
              <a:rPr lang="en-US" b="true" sz="1899" spc="3">
                <a:solidFill>
                  <a:srgbClr val="FFFFFF"/>
                </a:solidFill>
                <a:latin typeface="Open Sauce Bold"/>
                <a:ea typeface="Open Sauce Bold"/>
                <a:cs typeface="Open Sauce Bold"/>
                <a:sym typeface="Open Sauce Bold"/>
              </a:rPr>
              <a:t>Next Slide</a:t>
            </a:r>
          </a:p>
        </p:txBody>
      </p:sp>
      <p:sp>
        <p:nvSpPr>
          <p:cNvPr name="TextBox 19" id="19"/>
          <p:cNvSpPr txBox="true"/>
          <p:nvPr/>
        </p:nvSpPr>
        <p:spPr>
          <a:xfrm rot="0">
            <a:off x="1028700" y="8819935"/>
            <a:ext cx="4747340" cy="422976"/>
          </a:xfrm>
          <a:prstGeom prst="rect">
            <a:avLst/>
          </a:prstGeom>
        </p:spPr>
        <p:txBody>
          <a:bodyPr anchor="t" rtlCol="false" tIns="0" lIns="0" bIns="0" rIns="0">
            <a:spAutoFit/>
          </a:bodyPr>
          <a:lstStyle/>
          <a:p>
            <a:pPr algn="l">
              <a:lnSpc>
                <a:spcPts val="3461"/>
              </a:lnSpc>
            </a:pPr>
            <a:r>
              <a:rPr lang="en-US" sz="2472">
                <a:solidFill>
                  <a:srgbClr val="FFFFFF"/>
                </a:solidFill>
                <a:latin typeface="Open Sauce"/>
                <a:ea typeface="Open Sauce"/>
                <a:cs typeface="Open Sauce"/>
                <a:sym typeface="Open Sauce"/>
              </a:rPr>
              <a:t>IIE MSA</a:t>
            </a:r>
          </a:p>
        </p:txBody>
      </p:sp>
      <p:sp>
        <p:nvSpPr>
          <p:cNvPr name="TextBox 20" id="20"/>
          <p:cNvSpPr txBox="true"/>
          <p:nvPr/>
        </p:nvSpPr>
        <p:spPr>
          <a:xfrm rot="0">
            <a:off x="12511960" y="8819935"/>
            <a:ext cx="4888649" cy="422976"/>
          </a:xfrm>
          <a:prstGeom prst="rect">
            <a:avLst/>
          </a:prstGeom>
        </p:spPr>
        <p:txBody>
          <a:bodyPr anchor="t" rtlCol="false" tIns="0" lIns="0" bIns="0" rIns="0">
            <a:spAutoFit/>
          </a:bodyPr>
          <a:lstStyle/>
          <a:p>
            <a:pPr algn="r">
              <a:lnSpc>
                <a:spcPts val="3461"/>
              </a:lnSpc>
            </a:pPr>
            <a:r>
              <a:rPr lang="en-US" sz="2472">
                <a:solidFill>
                  <a:srgbClr val="FFFFFF"/>
                </a:solidFill>
                <a:latin typeface="Open Sauce"/>
                <a:ea typeface="Open Sauce"/>
                <a:cs typeface="Open Sauce"/>
                <a:sym typeface="Open Sauce"/>
              </a:rPr>
              <a:t>St10367702@imconnect.edu.za</a:t>
            </a:r>
          </a:p>
        </p:txBody>
      </p:sp>
      <p:sp>
        <p:nvSpPr>
          <p:cNvPr name="TextBox 21" id="21"/>
          <p:cNvSpPr txBox="true"/>
          <p:nvPr/>
        </p:nvSpPr>
        <p:spPr>
          <a:xfrm rot="0">
            <a:off x="8496029" y="8835324"/>
            <a:ext cx="1274721" cy="422976"/>
          </a:xfrm>
          <a:prstGeom prst="rect">
            <a:avLst/>
          </a:prstGeom>
        </p:spPr>
        <p:txBody>
          <a:bodyPr anchor="t" rtlCol="false" tIns="0" lIns="0" bIns="0" rIns="0">
            <a:spAutoFit/>
          </a:bodyPr>
          <a:lstStyle/>
          <a:p>
            <a:pPr algn="ctr">
              <a:lnSpc>
                <a:spcPts val="3461"/>
              </a:lnSpc>
            </a:pPr>
            <a:r>
              <a:rPr lang="en-US" sz="2472">
                <a:solidFill>
                  <a:srgbClr val="FFFFFF"/>
                </a:solidFill>
                <a:latin typeface="Open Sauce"/>
                <a:ea typeface="Open Sauce"/>
                <a:cs typeface="Open Sauce"/>
                <a:sym typeface="Open Sauce"/>
              </a:rPr>
              <a:t>-</a:t>
            </a:r>
          </a:p>
        </p:txBody>
      </p:sp>
      <p:sp>
        <p:nvSpPr>
          <p:cNvPr name="TextBox 22" id="22"/>
          <p:cNvSpPr txBox="true"/>
          <p:nvPr/>
        </p:nvSpPr>
        <p:spPr>
          <a:xfrm rot="0">
            <a:off x="10480824" y="654979"/>
            <a:ext cx="2561653" cy="347946"/>
          </a:xfrm>
          <a:prstGeom prst="rect">
            <a:avLst/>
          </a:prstGeom>
        </p:spPr>
        <p:txBody>
          <a:bodyPr anchor="t" rtlCol="false" tIns="0" lIns="0" bIns="0" rIns="0">
            <a:spAutoFit/>
          </a:bodyPr>
          <a:lstStyle/>
          <a:p>
            <a:pPr algn="ctr" marL="0" indent="0" lvl="0">
              <a:lnSpc>
                <a:spcPts val="2871"/>
              </a:lnSpc>
              <a:spcBef>
                <a:spcPct val="0"/>
              </a:spcBef>
            </a:pPr>
            <a:r>
              <a:rPr lang="en-US" b="true" sz="2051" spc="4">
                <a:solidFill>
                  <a:srgbClr val="A6A6A6"/>
                </a:solidFill>
                <a:latin typeface="Open Sauce Bold"/>
                <a:ea typeface="Open Sauce Bold"/>
                <a:cs typeface="Open Sauce Bold"/>
                <a:sym typeface="Open Sauce Bold"/>
              </a:rPr>
              <a:t>Manger dashboard</a:t>
            </a:r>
          </a:p>
        </p:txBody>
      </p:sp>
      <p:sp>
        <p:nvSpPr>
          <p:cNvPr name="TextBox 23" id="23"/>
          <p:cNvSpPr txBox="true"/>
          <p:nvPr/>
        </p:nvSpPr>
        <p:spPr>
          <a:xfrm rot="0">
            <a:off x="13518728" y="654979"/>
            <a:ext cx="1424029" cy="347946"/>
          </a:xfrm>
          <a:prstGeom prst="rect">
            <a:avLst/>
          </a:prstGeom>
        </p:spPr>
        <p:txBody>
          <a:bodyPr anchor="t" rtlCol="false" tIns="0" lIns="0" bIns="0" rIns="0">
            <a:spAutoFit/>
          </a:bodyPr>
          <a:lstStyle/>
          <a:p>
            <a:pPr algn="ctr" marL="0" indent="0" lvl="0">
              <a:lnSpc>
                <a:spcPts val="2871"/>
              </a:lnSpc>
              <a:spcBef>
                <a:spcPct val="0"/>
              </a:spcBef>
            </a:pPr>
            <a:r>
              <a:rPr lang="en-US" b="true" sz="2051" spc="4" u="sng">
                <a:solidFill>
                  <a:srgbClr val="A6A6A6"/>
                </a:solidFill>
                <a:latin typeface="Open Sauce Bold"/>
                <a:ea typeface="Open Sauce Bold"/>
                <a:cs typeface="Open Sauce Bold"/>
                <a:sym typeface="Open Sauce Bold"/>
                <a:hlinkClick r:id="rId4" tooltip="https://github.com/PerumalKeeran/st10367702_POE_Final_PROG6212"/>
              </a:rPr>
              <a:t>HR View</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481179" y="576468"/>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5400000">
            <a:off x="11868016" y="5566787"/>
            <a:ext cx="9145756" cy="9162415"/>
          </a:xfrm>
          <a:custGeom>
            <a:avLst/>
            <a:gdLst/>
            <a:ahLst/>
            <a:cxnLst/>
            <a:rect r="r" b="b" t="t" l="l"/>
            <a:pathLst>
              <a:path h="9162415" w="9145756">
                <a:moveTo>
                  <a:pt x="9145756" y="0"/>
                </a:moveTo>
                <a:lnTo>
                  <a:pt x="0" y="0"/>
                </a:lnTo>
                <a:lnTo>
                  <a:pt x="0" y="9162415"/>
                </a:lnTo>
                <a:lnTo>
                  <a:pt x="9145756" y="9162415"/>
                </a:lnTo>
                <a:lnTo>
                  <a:pt x="91457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47379" y="-1370038"/>
            <a:ext cx="6945154" cy="6945154"/>
          </a:xfrm>
          <a:custGeom>
            <a:avLst/>
            <a:gdLst/>
            <a:ahLst/>
            <a:cxnLst/>
            <a:rect r="r" b="b" t="t" l="l"/>
            <a:pathLst>
              <a:path h="6945154" w="6945154">
                <a:moveTo>
                  <a:pt x="0" y="0"/>
                </a:moveTo>
                <a:lnTo>
                  <a:pt x="6945154" y="0"/>
                </a:lnTo>
                <a:lnTo>
                  <a:pt x="6945154" y="6945154"/>
                </a:lnTo>
                <a:lnTo>
                  <a:pt x="0" y="69451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02</a:t>
            </a:r>
          </a:p>
        </p:txBody>
      </p:sp>
      <p:sp>
        <p:nvSpPr>
          <p:cNvPr name="TextBox 8" id="8"/>
          <p:cNvSpPr txBox="true"/>
          <p:nvPr/>
        </p:nvSpPr>
        <p:spPr>
          <a:xfrm rot="0">
            <a:off x="1950714" y="1308376"/>
            <a:ext cx="4738484" cy="1957791"/>
          </a:xfrm>
          <a:prstGeom prst="rect">
            <a:avLst/>
          </a:prstGeom>
        </p:spPr>
        <p:txBody>
          <a:bodyPr anchor="t" rtlCol="false" tIns="0" lIns="0" bIns="0" rIns="0">
            <a:spAutoFit/>
          </a:bodyPr>
          <a:lstStyle/>
          <a:p>
            <a:pPr algn="just" marL="0" indent="0" lvl="0">
              <a:lnSpc>
                <a:spcPts val="7704"/>
              </a:lnSpc>
            </a:pPr>
            <a:r>
              <a:rPr lang="en-US" b="true" sz="6641" spc="-312">
                <a:solidFill>
                  <a:srgbClr val="FFFFFF"/>
                </a:solidFill>
                <a:latin typeface="Open Sauce Bold"/>
                <a:ea typeface="Open Sauce Bold"/>
                <a:cs typeface="Open Sauce Bold"/>
                <a:sym typeface="Open Sauce Bold"/>
              </a:rPr>
              <a:t>Introduction to CMCS</a:t>
            </a:r>
          </a:p>
        </p:txBody>
      </p:sp>
      <p:sp>
        <p:nvSpPr>
          <p:cNvPr name="TextBox 9" id="9"/>
          <p:cNvSpPr txBox="true"/>
          <p:nvPr/>
        </p:nvSpPr>
        <p:spPr>
          <a:xfrm rot="0">
            <a:off x="1028700" y="5974089"/>
            <a:ext cx="7200719" cy="3078287"/>
          </a:xfrm>
          <a:prstGeom prst="rect">
            <a:avLst/>
          </a:prstGeom>
        </p:spPr>
        <p:txBody>
          <a:bodyPr anchor="t" rtlCol="false" tIns="0" lIns="0" bIns="0" rIns="0">
            <a:spAutoFit/>
          </a:bodyPr>
          <a:lstStyle/>
          <a:p>
            <a:pPr algn="just">
              <a:lnSpc>
                <a:spcPts val="4105"/>
              </a:lnSpc>
            </a:pPr>
            <a:r>
              <a:rPr lang="en-US" sz="2932" spc="5">
                <a:solidFill>
                  <a:srgbClr val="FFFFFF"/>
                </a:solidFill>
                <a:latin typeface="Open Sauce"/>
                <a:ea typeface="Open Sauce"/>
                <a:cs typeface="Open Sauce"/>
                <a:sym typeface="Open Sauce"/>
              </a:rPr>
              <a:t>The </a:t>
            </a:r>
            <a:r>
              <a:rPr lang="en-US" b="true" sz="2932" spc="5">
                <a:solidFill>
                  <a:srgbClr val="FFFFFF"/>
                </a:solidFill>
                <a:latin typeface="Open Sauce Bold"/>
                <a:ea typeface="Open Sauce Bold"/>
                <a:cs typeface="Open Sauce Bold"/>
                <a:sym typeface="Open Sauce Bold"/>
              </a:rPr>
              <a:t>Contract Monthly Claim System (CMCS)</a:t>
            </a:r>
            <a:r>
              <a:rPr lang="en-US" sz="2932" spc="5">
                <a:solidFill>
                  <a:srgbClr val="FFFFFF"/>
                </a:solidFill>
                <a:latin typeface="Open Sauce"/>
                <a:ea typeface="Open Sauce"/>
                <a:cs typeface="Open Sauce"/>
                <a:sym typeface="Open Sauce"/>
              </a:rPr>
              <a:t> is a web application based on .NET, created to simplify the monthly claims filed by Independent Contractor (IC) lecturers</a:t>
            </a:r>
          </a:p>
          <a:p>
            <a:pPr algn="just">
              <a:lnSpc>
                <a:spcPts val="4105"/>
              </a:lnSpc>
              <a:spcBef>
                <a:spcPct val="0"/>
              </a:spcBef>
            </a:pPr>
          </a:p>
        </p:txBody>
      </p:sp>
      <p:sp>
        <p:nvSpPr>
          <p:cNvPr name="TextBox 10" id="10"/>
          <p:cNvSpPr txBox="true"/>
          <p:nvPr/>
        </p:nvSpPr>
        <p:spPr>
          <a:xfrm rot="0">
            <a:off x="9564171" y="1761605"/>
            <a:ext cx="6686305" cy="2563905"/>
          </a:xfrm>
          <a:prstGeom prst="rect">
            <a:avLst/>
          </a:prstGeom>
        </p:spPr>
        <p:txBody>
          <a:bodyPr anchor="t" rtlCol="false" tIns="0" lIns="0" bIns="0" rIns="0">
            <a:spAutoFit/>
          </a:bodyPr>
          <a:lstStyle/>
          <a:p>
            <a:pPr algn="l">
              <a:lnSpc>
                <a:spcPts val="4107"/>
              </a:lnSpc>
              <a:spcBef>
                <a:spcPct val="0"/>
              </a:spcBef>
            </a:pPr>
            <a:r>
              <a:rPr lang="en-US" sz="2933" spc="5">
                <a:solidFill>
                  <a:srgbClr val="FFFFFF"/>
                </a:solidFill>
                <a:latin typeface="Open Sauce"/>
                <a:ea typeface="Open Sauce"/>
                <a:cs typeface="Open Sauce"/>
                <a:sym typeface="Open Sauce"/>
              </a:rPr>
              <a:t>The system automates:</a:t>
            </a:r>
          </a:p>
          <a:p>
            <a:pPr algn="l" marL="633423" indent="-316712" lvl="1">
              <a:lnSpc>
                <a:spcPts val="4107"/>
              </a:lnSpc>
              <a:buFont typeface="Arial"/>
              <a:buChar char="•"/>
            </a:pPr>
            <a:r>
              <a:rPr lang="en-US" sz="2933" spc="5">
                <a:solidFill>
                  <a:srgbClr val="FFFFFF"/>
                </a:solidFill>
                <a:latin typeface="Open Sauce"/>
                <a:ea typeface="Open Sauce"/>
                <a:cs typeface="Open Sauce"/>
                <a:sym typeface="Open Sauce"/>
              </a:rPr>
              <a:t>Claim submission</a:t>
            </a:r>
          </a:p>
          <a:p>
            <a:pPr algn="l" marL="633423" indent="-316712" lvl="1">
              <a:lnSpc>
                <a:spcPts val="4107"/>
              </a:lnSpc>
              <a:buFont typeface="Arial"/>
              <a:buChar char="•"/>
            </a:pPr>
            <a:r>
              <a:rPr lang="en-US" sz="2933" spc="5">
                <a:solidFill>
                  <a:srgbClr val="FFFFFF"/>
                </a:solidFill>
                <a:latin typeface="Open Sauce"/>
                <a:ea typeface="Open Sauce"/>
                <a:cs typeface="Open Sauce"/>
                <a:sym typeface="Open Sauce"/>
              </a:rPr>
              <a:t>Review &amp; approval workflow</a:t>
            </a:r>
          </a:p>
          <a:p>
            <a:pPr algn="l" marL="633423" indent="-316712" lvl="1">
              <a:lnSpc>
                <a:spcPts val="4107"/>
              </a:lnSpc>
              <a:buFont typeface="Arial"/>
              <a:buChar char="•"/>
            </a:pPr>
            <a:r>
              <a:rPr lang="en-US" sz="2933" spc="5">
                <a:solidFill>
                  <a:srgbClr val="FFFFFF"/>
                </a:solidFill>
                <a:latin typeface="Open Sauce"/>
                <a:ea typeface="Open Sauce"/>
                <a:cs typeface="Open Sauce"/>
                <a:sym typeface="Open Sauce"/>
              </a:rPr>
              <a:t>Document management</a:t>
            </a:r>
          </a:p>
          <a:p>
            <a:pPr algn="l" marL="633423" indent="-316712" lvl="1">
              <a:lnSpc>
                <a:spcPts val="4107"/>
              </a:lnSpc>
              <a:buFont typeface="Arial"/>
              <a:buChar char="•"/>
            </a:pPr>
            <a:r>
              <a:rPr lang="en-US" sz="2933" spc="5">
                <a:solidFill>
                  <a:srgbClr val="FFFFFF"/>
                </a:solidFill>
                <a:latin typeface="Open Sauce"/>
                <a:ea typeface="Open Sauce"/>
                <a:cs typeface="Open Sauce"/>
                <a:sym typeface="Open Sauce"/>
              </a:rPr>
              <a:t>HR processing</a:t>
            </a:r>
          </a:p>
        </p:txBody>
      </p:sp>
      <p:sp>
        <p:nvSpPr>
          <p:cNvPr name="TextBox 11" id="11"/>
          <p:cNvSpPr txBox="true"/>
          <p:nvPr/>
        </p:nvSpPr>
        <p:spPr>
          <a:xfrm rot="0">
            <a:off x="9564171" y="4954159"/>
            <a:ext cx="8506665" cy="4098217"/>
          </a:xfrm>
          <a:prstGeom prst="rect">
            <a:avLst/>
          </a:prstGeom>
        </p:spPr>
        <p:txBody>
          <a:bodyPr anchor="t" rtlCol="false" tIns="0" lIns="0" bIns="0" rIns="0">
            <a:spAutoFit/>
          </a:bodyPr>
          <a:lstStyle/>
          <a:p>
            <a:pPr algn="l">
              <a:lnSpc>
                <a:spcPts val="4064"/>
              </a:lnSpc>
              <a:spcBef>
                <a:spcPct val="0"/>
              </a:spcBef>
            </a:pPr>
            <a:r>
              <a:rPr lang="en-US" b="true" sz="2902" spc="5">
                <a:solidFill>
                  <a:srgbClr val="FFFFFF"/>
                </a:solidFill>
                <a:latin typeface="Open Sauce Bold"/>
                <a:ea typeface="Open Sauce Bold"/>
                <a:cs typeface="Open Sauce Bold"/>
                <a:sym typeface="Open Sauce Bold"/>
              </a:rPr>
              <a:t>This project was developed across three phases</a:t>
            </a:r>
            <a:r>
              <a:rPr lang="en-US" sz="2902" spc="5">
                <a:solidFill>
                  <a:srgbClr val="FFFFFF"/>
                </a:solidFill>
                <a:latin typeface="Open Sauce"/>
                <a:ea typeface="Open Sauce"/>
                <a:cs typeface="Open Sauce"/>
                <a:sym typeface="Open Sauce"/>
              </a:rPr>
              <a:t>:</a:t>
            </a:r>
          </a:p>
          <a:p>
            <a:pPr algn="l" marL="626732" indent="-313366" lvl="1">
              <a:lnSpc>
                <a:spcPts val="4064"/>
              </a:lnSpc>
              <a:buFont typeface="Arial"/>
              <a:buChar char="•"/>
            </a:pPr>
            <a:r>
              <a:rPr lang="en-US" sz="2902" spc="5">
                <a:solidFill>
                  <a:srgbClr val="FFFFFF"/>
                </a:solidFill>
                <a:latin typeface="Open Sauce"/>
                <a:ea typeface="Open Sauce"/>
                <a:cs typeface="Open Sauce"/>
                <a:sym typeface="Open Sauce"/>
              </a:rPr>
              <a:t>Part 1: P</a:t>
            </a:r>
            <a:r>
              <a:rPr lang="en-US" sz="2902" spc="5">
                <a:solidFill>
                  <a:srgbClr val="FFFFFF"/>
                </a:solidFill>
                <a:latin typeface="Open Sauce"/>
                <a:ea typeface="Open Sauce"/>
                <a:cs typeface="Open Sauce"/>
                <a:sym typeface="Open Sauce"/>
              </a:rPr>
              <a:t>lanning, UML diagrams, GUI prototype</a:t>
            </a:r>
          </a:p>
          <a:p>
            <a:pPr algn="l" marL="626732" indent="-313366" lvl="1">
              <a:lnSpc>
                <a:spcPts val="4064"/>
              </a:lnSpc>
              <a:buFont typeface="Arial"/>
              <a:buChar char="•"/>
            </a:pPr>
            <a:r>
              <a:rPr lang="en-US" sz="2902" spc="5">
                <a:solidFill>
                  <a:srgbClr val="FFFFFF"/>
                </a:solidFill>
                <a:latin typeface="Open Sauce"/>
                <a:ea typeface="Open Sauce"/>
                <a:cs typeface="Open Sauce"/>
                <a:sym typeface="Open Sauce"/>
              </a:rPr>
              <a:t>Part 2: Core functionality implementation</a:t>
            </a:r>
          </a:p>
          <a:p>
            <a:pPr algn="l" marL="626732" indent="-313366" lvl="1">
              <a:lnSpc>
                <a:spcPts val="4064"/>
              </a:lnSpc>
              <a:buFont typeface="Arial"/>
              <a:buChar char="•"/>
            </a:pPr>
            <a:r>
              <a:rPr lang="en-US" sz="2902" spc="5">
                <a:solidFill>
                  <a:srgbClr val="FFFFFF"/>
                </a:solidFill>
                <a:latin typeface="Open Sauce"/>
                <a:ea typeface="Open Sauce"/>
                <a:cs typeface="Open Sauce"/>
                <a:sym typeface="Open Sauce"/>
              </a:rPr>
              <a:t>Part 3: Automation enhancements + reporting</a:t>
            </a:r>
          </a:p>
          <a:p>
            <a:pPr algn="l" marL="626732" indent="-313366" lvl="1">
              <a:lnSpc>
                <a:spcPts val="4064"/>
              </a:lnSpc>
              <a:buFont typeface="Arial"/>
              <a:buChar char="•"/>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3671540" y="5198529"/>
            <a:ext cx="6979048" cy="6991760"/>
          </a:xfrm>
          <a:custGeom>
            <a:avLst/>
            <a:gdLst/>
            <a:ahLst/>
            <a:cxnLst/>
            <a:rect r="r" b="b" t="t" l="l"/>
            <a:pathLst>
              <a:path h="6991760" w="6979048">
                <a:moveTo>
                  <a:pt x="6979048" y="0"/>
                </a:moveTo>
                <a:lnTo>
                  <a:pt x="0" y="0"/>
                </a:lnTo>
                <a:lnTo>
                  <a:pt x="0" y="6991761"/>
                </a:lnTo>
                <a:lnTo>
                  <a:pt x="6979048" y="6991761"/>
                </a:lnTo>
                <a:lnTo>
                  <a:pt x="697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81179" y="576468"/>
            <a:ext cx="1919429" cy="566532"/>
            <a:chOff x="0" y="0"/>
            <a:chExt cx="505529" cy="149210"/>
          </a:xfrm>
        </p:grpSpPr>
        <p:sp>
          <p:nvSpPr>
            <p:cNvPr name="Freeform 4" id="4"/>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5" id="5"/>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85692" y="6966735"/>
            <a:ext cx="6958960" cy="3971482"/>
            <a:chOff x="0" y="0"/>
            <a:chExt cx="1635569" cy="933420"/>
          </a:xfrm>
        </p:grpSpPr>
        <p:sp>
          <p:nvSpPr>
            <p:cNvPr name="Freeform 7" id="7"/>
            <p:cNvSpPr/>
            <p:nvPr/>
          </p:nvSpPr>
          <p:spPr>
            <a:xfrm flipH="false" flipV="false" rot="0">
              <a:off x="0" y="0"/>
              <a:ext cx="1635569" cy="933420"/>
            </a:xfrm>
            <a:custGeom>
              <a:avLst/>
              <a:gdLst/>
              <a:ahLst/>
              <a:cxnLst/>
              <a:rect r="r" b="b" t="t" l="l"/>
              <a:pathLst>
                <a:path h="933420" w="1635569">
                  <a:moveTo>
                    <a:pt x="87888" y="0"/>
                  </a:moveTo>
                  <a:lnTo>
                    <a:pt x="1547681" y="0"/>
                  </a:lnTo>
                  <a:cubicBezTo>
                    <a:pt x="1596220" y="0"/>
                    <a:pt x="1635569" y="39349"/>
                    <a:pt x="1635569" y="87888"/>
                  </a:cubicBezTo>
                  <a:lnTo>
                    <a:pt x="1635569" y="845532"/>
                  </a:lnTo>
                  <a:cubicBezTo>
                    <a:pt x="1635569" y="894071"/>
                    <a:pt x="1596220" y="933420"/>
                    <a:pt x="1547681" y="933420"/>
                  </a:cubicBezTo>
                  <a:lnTo>
                    <a:pt x="87888" y="933420"/>
                  </a:lnTo>
                  <a:cubicBezTo>
                    <a:pt x="39349" y="933420"/>
                    <a:pt x="0" y="894071"/>
                    <a:pt x="0" y="845532"/>
                  </a:cubicBezTo>
                  <a:lnTo>
                    <a:pt x="0" y="87888"/>
                  </a:lnTo>
                  <a:cubicBezTo>
                    <a:pt x="0" y="39349"/>
                    <a:pt x="39349" y="0"/>
                    <a:pt x="87888" y="0"/>
                  </a:cubicBezTo>
                  <a:close/>
                </a:path>
              </a:pathLst>
            </a:custGeom>
            <a:blipFill>
              <a:blip r:embed="rId4"/>
              <a:stretch>
                <a:fillRect l="-29851" t="-25796" r="0" b="-25796"/>
              </a:stretch>
            </a:blipFill>
          </p:spPr>
        </p:sp>
      </p:grpSp>
      <p:sp>
        <p:nvSpPr>
          <p:cNvPr name="Freeform 8" id="8"/>
          <p:cNvSpPr/>
          <p:nvPr/>
        </p:nvSpPr>
        <p:spPr>
          <a:xfrm flipH="false" flipV="true" rot="0">
            <a:off x="-4701873" y="-425502"/>
            <a:ext cx="12442816" cy="12442816"/>
          </a:xfrm>
          <a:custGeom>
            <a:avLst/>
            <a:gdLst/>
            <a:ahLst/>
            <a:cxnLst/>
            <a:rect r="r" b="b" t="t" l="l"/>
            <a:pathLst>
              <a:path h="12442816" w="12442816">
                <a:moveTo>
                  <a:pt x="0" y="12442816"/>
                </a:moveTo>
                <a:lnTo>
                  <a:pt x="12442816" y="12442816"/>
                </a:lnTo>
                <a:lnTo>
                  <a:pt x="12442816" y="0"/>
                </a:lnTo>
                <a:lnTo>
                  <a:pt x="0" y="0"/>
                </a:lnTo>
                <a:lnTo>
                  <a:pt x="0" y="1244281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3070906" y="2101227"/>
            <a:ext cx="4820546" cy="6084546"/>
          </a:xfrm>
          <a:custGeom>
            <a:avLst/>
            <a:gdLst/>
            <a:ahLst/>
            <a:cxnLst/>
            <a:rect r="r" b="b" t="t" l="l"/>
            <a:pathLst>
              <a:path h="6084546" w="4820546">
                <a:moveTo>
                  <a:pt x="0" y="0"/>
                </a:moveTo>
                <a:lnTo>
                  <a:pt x="4820547" y="0"/>
                </a:lnTo>
                <a:lnTo>
                  <a:pt x="4820547" y="6084546"/>
                </a:lnTo>
                <a:lnTo>
                  <a:pt x="0" y="6084546"/>
                </a:lnTo>
                <a:lnTo>
                  <a:pt x="0" y="0"/>
                </a:lnTo>
                <a:close/>
              </a:path>
            </a:pathLst>
          </a:custGeom>
          <a:blipFill>
            <a:blip r:embed="rId7"/>
            <a:stretch>
              <a:fillRect l="0" t="0" r="0" b="0"/>
            </a:stretch>
          </a:blipFill>
        </p:spPr>
      </p:sp>
      <p:sp>
        <p:nvSpPr>
          <p:cNvPr name="TextBox 10" id="10"/>
          <p:cNvSpPr txBox="true"/>
          <p:nvPr/>
        </p:nvSpPr>
        <p:spPr>
          <a:xfrm rot="0">
            <a:off x="15739774" y="650878"/>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03</a:t>
            </a:r>
          </a:p>
        </p:txBody>
      </p:sp>
      <p:sp>
        <p:nvSpPr>
          <p:cNvPr name="TextBox 11" id="11"/>
          <p:cNvSpPr txBox="true"/>
          <p:nvPr/>
        </p:nvSpPr>
        <p:spPr>
          <a:xfrm rot="0">
            <a:off x="2754711" y="507008"/>
            <a:ext cx="11777396" cy="986241"/>
          </a:xfrm>
          <a:prstGeom prst="rect">
            <a:avLst/>
          </a:prstGeom>
        </p:spPr>
        <p:txBody>
          <a:bodyPr anchor="t" rtlCol="false" tIns="0" lIns="0" bIns="0" rIns="0">
            <a:spAutoFit/>
          </a:bodyPr>
          <a:lstStyle/>
          <a:p>
            <a:pPr algn="just" marL="0" indent="0" lvl="0">
              <a:lnSpc>
                <a:spcPts val="7704"/>
              </a:lnSpc>
            </a:pPr>
            <a:r>
              <a:rPr lang="en-US" b="true" sz="6641" spc="-312">
                <a:solidFill>
                  <a:srgbClr val="FFFFFF"/>
                </a:solidFill>
                <a:latin typeface="Open Sauce Bold"/>
                <a:ea typeface="Open Sauce Bold"/>
                <a:cs typeface="Open Sauce Bold"/>
                <a:sym typeface="Open Sauce Bold"/>
              </a:rPr>
              <a:t>System Architecture Overview</a:t>
            </a:r>
          </a:p>
        </p:txBody>
      </p:sp>
      <p:sp>
        <p:nvSpPr>
          <p:cNvPr name="TextBox 12" id="12"/>
          <p:cNvSpPr txBox="true"/>
          <p:nvPr/>
        </p:nvSpPr>
        <p:spPr>
          <a:xfrm rot="0">
            <a:off x="583044" y="2603391"/>
            <a:ext cx="11740604" cy="1930366"/>
          </a:xfrm>
          <a:prstGeom prst="rect">
            <a:avLst/>
          </a:prstGeom>
        </p:spPr>
        <p:txBody>
          <a:bodyPr anchor="t" rtlCol="false" tIns="0" lIns="0" bIns="0" rIns="0">
            <a:spAutoFit/>
          </a:bodyPr>
          <a:lstStyle/>
          <a:p>
            <a:pPr algn="l">
              <a:lnSpc>
                <a:spcPts val="3851"/>
              </a:lnSpc>
              <a:spcBef>
                <a:spcPct val="0"/>
              </a:spcBef>
            </a:pPr>
            <a:r>
              <a:rPr lang="en-US" b="true" sz="2751" spc="5">
                <a:solidFill>
                  <a:srgbClr val="FFFFFF"/>
                </a:solidFill>
                <a:latin typeface="Open Sauce Bold"/>
                <a:ea typeface="Open Sauce Bold"/>
                <a:cs typeface="Open Sauce Bold"/>
                <a:sym typeface="Open Sauce Bold"/>
              </a:rPr>
              <a:t>Key Components:</a:t>
            </a:r>
          </a:p>
          <a:p>
            <a:pPr algn="l" marL="594014" indent="-297007" lvl="1">
              <a:lnSpc>
                <a:spcPts val="3851"/>
              </a:lnSpc>
              <a:buFont typeface="Arial"/>
              <a:buChar char="•"/>
            </a:pPr>
            <a:r>
              <a:rPr lang="en-US" sz="2751" spc="5">
                <a:solidFill>
                  <a:srgbClr val="FFFFFF"/>
                </a:solidFill>
                <a:latin typeface="Open Sauce"/>
                <a:ea typeface="Open Sauce"/>
                <a:cs typeface="Open Sauce"/>
                <a:sym typeface="Open Sauce"/>
              </a:rPr>
              <a:t>Models: Lecturer, Claim, SupportingDocument</a:t>
            </a:r>
          </a:p>
          <a:p>
            <a:pPr algn="l" marL="594014" indent="-297007" lvl="1">
              <a:lnSpc>
                <a:spcPts val="3851"/>
              </a:lnSpc>
              <a:buFont typeface="Arial"/>
              <a:buChar char="•"/>
            </a:pPr>
            <a:r>
              <a:rPr lang="en-US" sz="2751" spc="5">
                <a:solidFill>
                  <a:srgbClr val="FFFFFF"/>
                </a:solidFill>
                <a:latin typeface="Open Sauce"/>
                <a:ea typeface="Open Sauce"/>
                <a:cs typeface="Open Sauce"/>
                <a:sym typeface="Open Sauce"/>
              </a:rPr>
              <a:t>Controllers: ClaimsController, CoordinatorController, HRController</a:t>
            </a:r>
          </a:p>
          <a:p>
            <a:pPr algn="l" marL="594014" indent="-297007" lvl="1">
              <a:lnSpc>
                <a:spcPts val="3851"/>
              </a:lnSpc>
              <a:buFont typeface="Arial"/>
              <a:buChar char="•"/>
            </a:pPr>
            <a:r>
              <a:rPr lang="en-US" sz="2751" spc="5">
                <a:solidFill>
                  <a:srgbClr val="FFFFFF"/>
                </a:solidFill>
                <a:latin typeface="Open Sauce"/>
                <a:ea typeface="Open Sauce"/>
                <a:cs typeface="Open Sauce"/>
                <a:sym typeface="Open Sauce"/>
              </a:rPr>
              <a:t>Views: Razor Pages for Lecturer, Coordinator, Manager, HR</a:t>
            </a:r>
          </a:p>
        </p:txBody>
      </p:sp>
      <p:sp>
        <p:nvSpPr>
          <p:cNvPr name="TextBox 13" id="13"/>
          <p:cNvSpPr txBox="true"/>
          <p:nvPr/>
        </p:nvSpPr>
        <p:spPr>
          <a:xfrm rot="0">
            <a:off x="583044" y="5036369"/>
            <a:ext cx="12129492" cy="1930366"/>
          </a:xfrm>
          <a:prstGeom prst="rect">
            <a:avLst/>
          </a:prstGeom>
        </p:spPr>
        <p:txBody>
          <a:bodyPr anchor="t" rtlCol="false" tIns="0" lIns="0" bIns="0" rIns="0">
            <a:spAutoFit/>
          </a:bodyPr>
          <a:lstStyle/>
          <a:p>
            <a:pPr algn="l">
              <a:lnSpc>
                <a:spcPts val="3851"/>
              </a:lnSpc>
              <a:spcBef>
                <a:spcPct val="0"/>
              </a:spcBef>
            </a:pPr>
            <a:r>
              <a:rPr lang="en-US" b="true" sz="2751" spc="5">
                <a:solidFill>
                  <a:srgbClr val="FFFFFF"/>
                </a:solidFill>
                <a:latin typeface="Open Sauce Bold"/>
                <a:ea typeface="Open Sauce Bold"/>
                <a:cs typeface="Open Sauce Bold"/>
                <a:sym typeface="Open Sauce Bold"/>
              </a:rPr>
              <a:t>Architecture Diagram :</a:t>
            </a:r>
          </a:p>
          <a:p>
            <a:pPr algn="l" marL="594014" indent="-297007" lvl="1">
              <a:lnSpc>
                <a:spcPts val="3851"/>
              </a:lnSpc>
              <a:buFont typeface="Arial"/>
              <a:buChar char="•"/>
            </a:pPr>
            <a:r>
              <a:rPr lang="en-US" sz="2751" spc="5">
                <a:solidFill>
                  <a:srgbClr val="FFFFFF"/>
                </a:solidFill>
                <a:latin typeface="Open Sauce"/>
                <a:ea typeface="Open Sauce"/>
                <a:cs typeface="Open Sauce"/>
                <a:sym typeface="Open Sauce"/>
              </a:rPr>
              <a:t>MVC layered structure</a:t>
            </a:r>
          </a:p>
          <a:p>
            <a:pPr algn="l" marL="594014" indent="-297007" lvl="1">
              <a:lnSpc>
                <a:spcPts val="3851"/>
              </a:lnSpc>
              <a:buFont typeface="Arial"/>
              <a:buChar char="•"/>
            </a:pPr>
            <a:r>
              <a:rPr lang="en-US" sz="2751" spc="5">
                <a:solidFill>
                  <a:srgbClr val="FFFFFF"/>
                </a:solidFill>
                <a:latin typeface="Open Sauce"/>
                <a:ea typeface="Open Sauce"/>
                <a:cs typeface="Open Sauce"/>
                <a:sym typeface="Open Sauce"/>
              </a:rPr>
              <a:t>Database layer beneath EF Core</a:t>
            </a:r>
          </a:p>
          <a:p>
            <a:pPr algn="l" marL="594014" indent="-297007" lvl="1">
              <a:lnSpc>
                <a:spcPts val="3851"/>
              </a:lnSpc>
              <a:buFont typeface="Arial"/>
              <a:buChar char="•"/>
            </a:pPr>
            <a:r>
              <a:rPr lang="en-US" sz="2751" spc="5">
                <a:solidFill>
                  <a:srgbClr val="FFFFFF"/>
                </a:solidFill>
                <a:latin typeface="Open Sauce"/>
                <a:ea typeface="Open Sauce"/>
                <a:cs typeface="Open Sauce"/>
                <a:sym typeface="Open Sauce"/>
              </a:rPr>
              <a:t>User interfaces: Lecturer UI → Coordinator UI → Manager UI → HR UI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481179" y="576468"/>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true" rot="-5400000">
            <a:off x="-4514662" y="-2399914"/>
            <a:ext cx="8558066" cy="8573655"/>
          </a:xfrm>
          <a:custGeom>
            <a:avLst/>
            <a:gdLst/>
            <a:ahLst/>
            <a:cxnLst/>
            <a:rect r="r" b="b" t="t" l="l"/>
            <a:pathLst>
              <a:path h="8573655" w="8558066">
                <a:moveTo>
                  <a:pt x="0" y="8573655"/>
                </a:moveTo>
                <a:lnTo>
                  <a:pt x="8558066" y="8573655"/>
                </a:lnTo>
                <a:lnTo>
                  <a:pt x="8558066" y="0"/>
                </a:lnTo>
                <a:lnTo>
                  <a:pt x="0" y="0"/>
                </a:lnTo>
                <a:lnTo>
                  <a:pt x="0" y="857365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726951">
            <a:off x="13151846" y="4087436"/>
            <a:ext cx="10617243" cy="10617243"/>
          </a:xfrm>
          <a:custGeom>
            <a:avLst/>
            <a:gdLst/>
            <a:ahLst/>
            <a:cxnLst/>
            <a:rect r="r" b="b" t="t" l="l"/>
            <a:pathLst>
              <a:path h="10617243" w="10617243">
                <a:moveTo>
                  <a:pt x="10617243" y="0"/>
                </a:moveTo>
                <a:lnTo>
                  <a:pt x="0" y="0"/>
                </a:lnTo>
                <a:lnTo>
                  <a:pt x="0" y="10617243"/>
                </a:lnTo>
                <a:lnTo>
                  <a:pt x="10617243" y="10617243"/>
                </a:lnTo>
                <a:lnTo>
                  <a:pt x="1061724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793293" y="1583319"/>
            <a:ext cx="8007487" cy="8007487"/>
          </a:xfrm>
          <a:custGeom>
            <a:avLst/>
            <a:gdLst/>
            <a:ahLst/>
            <a:cxnLst/>
            <a:rect r="r" b="b" t="t" l="l"/>
            <a:pathLst>
              <a:path h="8007487" w="8007487">
                <a:moveTo>
                  <a:pt x="0" y="0"/>
                </a:moveTo>
                <a:lnTo>
                  <a:pt x="8007486" y="0"/>
                </a:lnTo>
                <a:lnTo>
                  <a:pt x="8007486" y="8007487"/>
                </a:lnTo>
                <a:lnTo>
                  <a:pt x="0" y="8007487"/>
                </a:lnTo>
                <a:lnTo>
                  <a:pt x="0" y="0"/>
                </a:lnTo>
                <a:close/>
              </a:path>
            </a:pathLst>
          </a:custGeom>
          <a:blipFill>
            <a:blip r:embed="rId6"/>
            <a:stretch>
              <a:fillRect l="0" t="0" r="0" b="0"/>
            </a:stretch>
          </a:blipFill>
        </p:spPr>
      </p:sp>
      <p:sp>
        <p:nvSpPr>
          <p:cNvPr name="TextBox 8" id="8"/>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05</a:t>
            </a:r>
          </a:p>
        </p:txBody>
      </p:sp>
      <p:sp>
        <p:nvSpPr>
          <p:cNvPr name="TextBox 9" id="9"/>
          <p:cNvSpPr txBox="true"/>
          <p:nvPr/>
        </p:nvSpPr>
        <p:spPr>
          <a:xfrm rot="0">
            <a:off x="1028700" y="4699930"/>
            <a:ext cx="7250099" cy="443570"/>
          </a:xfrm>
          <a:prstGeom prst="rect">
            <a:avLst/>
          </a:prstGeom>
        </p:spPr>
        <p:txBody>
          <a:bodyPr anchor="t" rtlCol="false" tIns="0" lIns="0" bIns="0" rIns="0">
            <a:spAutoFit/>
          </a:bodyPr>
          <a:lstStyle/>
          <a:p>
            <a:pPr algn="just" marL="0" indent="0" lvl="0">
              <a:lnSpc>
                <a:spcPts val="3412"/>
              </a:lnSpc>
            </a:pPr>
            <a:r>
              <a:rPr lang="en-US" b="true" sz="2941" spc="-138">
                <a:solidFill>
                  <a:srgbClr val="FFFFFF"/>
                </a:solidFill>
                <a:latin typeface="Open Sauce Bold"/>
                <a:ea typeface="Open Sauce Bold"/>
                <a:cs typeface="Open Sauce Bold"/>
                <a:sym typeface="Open Sauce Bold"/>
              </a:rPr>
              <a:t>Attributes included:</a:t>
            </a:r>
          </a:p>
        </p:txBody>
      </p:sp>
      <p:sp>
        <p:nvSpPr>
          <p:cNvPr name="TextBox 10" id="10"/>
          <p:cNvSpPr txBox="true"/>
          <p:nvPr/>
        </p:nvSpPr>
        <p:spPr>
          <a:xfrm rot="0">
            <a:off x="938945" y="5076825"/>
            <a:ext cx="8854348" cy="4107816"/>
          </a:xfrm>
          <a:prstGeom prst="rect">
            <a:avLst/>
          </a:prstGeom>
        </p:spPr>
        <p:txBody>
          <a:bodyPr anchor="t" rtlCol="false" tIns="0" lIns="0" bIns="0" rIns="0">
            <a:spAutoFit/>
          </a:bodyPr>
          <a:lstStyle/>
          <a:p>
            <a:pPr algn="l" marL="626104" indent="-313052" lvl="1">
              <a:lnSpc>
                <a:spcPts val="4059"/>
              </a:lnSpc>
              <a:buFont typeface="Arial"/>
              <a:buChar char="•"/>
            </a:pPr>
            <a:r>
              <a:rPr lang="en-US" sz="2899" spc="5">
                <a:solidFill>
                  <a:srgbClr val="FFFFFF"/>
                </a:solidFill>
                <a:latin typeface="Open Sauce"/>
                <a:ea typeface="Open Sauce"/>
                <a:cs typeface="Open Sauce"/>
                <a:sym typeface="Open Sauce"/>
              </a:rPr>
              <a:t>Lecturer: LecturerId, Name, Email, DefaultHourlyRate</a:t>
            </a:r>
          </a:p>
          <a:p>
            <a:pPr algn="l" marL="626104" indent="-313052" lvl="1">
              <a:lnSpc>
                <a:spcPts val="4059"/>
              </a:lnSpc>
              <a:buFont typeface="Arial"/>
              <a:buChar char="•"/>
            </a:pPr>
            <a:r>
              <a:rPr lang="en-US" sz="2899" spc="5">
                <a:solidFill>
                  <a:srgbClr val="FFFFFF"/>
                </a:solidFill>
                <a:latin typeface="Open Sauce"/>
                <a:ea typeface="Open Sauce"/>
                <a:cs typeface="Open Sauce"/>
                <a:sym typeface="Open Sauce"/>
              </a:rPr>
              <a:t>Claim: ClaimId, LecturerId, HoursWorked, HourlyRate, TotalAmount, Status, SubmittedOn</a:t>
            </a:r>
          </a:p>
          <a:p>
            <a:pPr algn="l" marL="626104" indent="-313052" lvl="1">
              <a:lnSpc>
                <a:spcPts val="4059"/>
              </a:lnSpc>
              <a:buFont typeface="Arial"/>
              <a:buChar char="•"/>
            </a:pPr>
            <a:r>
              <a:rPr lang="en-US" sz="2899" spc="5">
                <a:solidFill>
                  <a:srgbClr val="FFFFFF"/>
                </a:solidFill>
                <a:latin typeface="Open Sauce"/>
                <a:ea typeface="Open Sauce"/>
                <a:cs typeface="Open Sauce"/>
                <a:sym typeface="Open Sauce"/>
              </a:rPr>
              <a:t>SupportingDocuments: Id, ClaimId, FileName, FilePath, UploadedOn</a:t>
            </a:r>
          </a:p>
          <a:p>
            <a:pPr algn="l">
              <a:lnSpc>
                <a:spcPts val="4059"/>
              </a:lnSpc>
              <a:spcBef>
                <a:spcPct val="0"/>
              </a:spcBef>
            </a:pPr>
          </a:p>
        </p:txBody>
      </p:sp>
      <p:sp>
        <p:nvSpPr>
          <p:cNvPr name="TextBox 11" id="11"/>
          <p:cNvSpPr txBox="true"/>
          <p:nvPr/>
        </p:nvSpPr>
        <p:spPr>
          <a:xfrm rot="0">
            <a:off x="3484979" y="417774"/>
            <a:ext cx="9587639" cy="941070"/>
          </a:xfrm>
          <a:prstGeom prst="rect">
            <a:avLst/>
          </a:prstGeom>
        </p:spPr>
        <p:txBody>
          <a:bodyPr anchor="t" rtlCol="false" tIns="0" lIns="0" bIns="0" rIns="0">
            <a:spAutoFit/>
          </a:bodyPr>
          <a:lstStyle/>
          <a:p>
            <a:pPr algn="just" marL="0" indent="0" lvl="0">
              <a:lnSpc>
                <a:spcPts val="7260"/>
              </a:lnSpc>
            </a:pPr>
            <a:r>
              <a:rPr lang="en-US" b="true" sz="6600" spc="13">
                <a:solidFill>
                  <a:srgbClr val="FFFFFF"/>
                </a:solidFill>
                <a:latin typeface="Open Sauce Bold"/>
                <a:ea typeface="Open Sauce Bold"/>
                <a:cs typeface="Open Sauce Bold"/>
                <a:sym typeface="Open Sauce Bold"/>
              </a:rPr>
              <a:t>UML CLASS DIAGRAM</a:t>
            </a:r>
          </a:p>
        </p:txBody>
      </p:sp>
      <p:sp>
        <p:nvSpPr>
          <p:cNvPr name="TextBox 12" id="12"/>
          <p:cNvSpPr txBox="true"/>
          <p:nvPr/>
        </p:nvSpPr>
        <p:spPr>
          <a:xfrm rot="0">
            <a:off x="1028700" y="2120593"/>
            <a:ext cx="9324910" cy="1563336"/>
          </a:xfrm>
          <a:prstGeom prst="rect">
            <a:avLst/>
          </a:prstGeom>
        </p:spPr>
        <p:txBody>
          <a:bodyPr anchor="t" rtlCol="false" tIns="0" lIns="0" bIns="0" rIns="0">
            <a:spAutoFit/>
          </a:bodyPr>
          <a:lstStyle/>
          <a:p>
            <a:pPr algn="l">
              <a:lnSpc>
                <a:spcPts val="4131"/>
              </a:lnSpc>
            </a:pPr>
            <a:r>
              <a:rPr lang="en-US" b="true" sz="2951" spc="5">
                <a:solidFill>
                  <a:srgbClr val="FFFFFF"/>
                </a:solidFill>
                <a:latin typeface="Open Sauce Bold"/>
                <a:ea typeface="Open Sauce Bold"/>
                <a:cs typeface="Open Sauce Bold"/>
                <a:sym typeface="Open Sauce Bold"/>
              </a:rPr>
              <a:t>Classes &amp; Relationships:</a:t>
            </a:r>
          </a:p>
          <a:p>
            <a:pPr algn="l" marL="637193" indent="-318596" lvl="1">
              <a:lnSpc>
                <a:spcPts val="4131"/>
              </a:lnSpc>
              <a:buFont typeface="Arial"/>
              <a:buChar char="•"/>
            </a:pPr>
            <a:r>
              <a:rPr lang="en-US" sz="2951" spc="5">
                <a:solidFill>
                  <a:srgbClr val="FFFFFF"/>
                </a:solidFill>
                <a:latin typeface="Open Sauce"/>
                <a:ea typeface="Open Sauce"/>
                <a:cs typeface="Open Sauce"/>
                <a:sym typeface="Open Sauce"/>
              </a:rPr>
              <a:t>Lecturer (1-to-many) → Claims</a:t>
            </a:r>
          </a:p>
          <a:p>
            <a:pPr algn="l" marL="637193" indent="-318596" lvl="1">
              <a:lnSpc>
                <a:spcPts val="4131"/>
              </a:lnSpc>
              <a:buFont typeface="Arial"/>
              <a:buChar char="•"/>
            </a:pPr>
            <a:r>
              <a:rPr lang="en-US" sz="2951" spc="5">
                <a:solidFill>
                  <a:srgbClr val="FFFFFF"/>
                </a:solidFill>
                <a:latin typeface="Open Sauce"/>
                <a:ea typeface="Open Sauce"/>
                <a:cs typeface="Open Sauce"/>
                <a:sym typeface="Open Sauce"/>
              </a:rPr>
              <a:t>Claim (1-to-many) → SupportingDocuments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1211464" y="4712218"/>
            <a:ext cx="10458860" cy="10477911"/>
          </a:xfrm>
          <a:custGeom>
            <a:avLst/>
            <a:gdLst/>
            <a:ahLst/>
            <a:cxnLst/>
            <a:rect r="r" b="b" t="t" l="l"/>
            <a:pathLst>
              <a:path h="10477911" w="10458860">
                <a:moveTo>
                  <a:pt x="10458860" y="0"/>
                </a:moveTo>
                <a:lnTo>
                  <a:pt x="0" y="0"/>
                </a:lnTo>
                <a:lnTo>
                  <a:pt x="0" y="10477910"/>
                </a:lnTo>
                <a:lnTo>
                  <a:pt x="10458860" y="10477910"/>
                </a:lnTo>
                <a:lnTo>
                  <a:pt x="1045886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81179" y="576468"/>
            <a:ext cx="1919429" cy="566532"/>
            <a:chOff x="0" y="0"/>
            <a:chExt cx="505529" cy="149210"/>
          </a:xfrm>
        </p:grpSpPr>
        <p:sp>
          <p:nvSpPr>
            <p:cNvPr name="Freeform 4" id="4"/>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5" id="5"/>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true" rot="0">
            <a:off x="-9821192" y="-1330159"/>
            <a:ext cx="15327765" cy="15327765"/>
          </a:xfrm>
          <a:custGeom>
            <a:avLst/>
            <a:gdLst/>
            <a:ahLst/>
            <a:cxnLst/>
            <a:rect r="r" b="b" t="t" l="l"/>
            <a:pathLst>
              <a:path h="15327765" w="15327765">
                <a:moveTo>
                  <a:pt x="0" y="15327765"/>
                </a:moveTo>
                <a:lnTo>
                  <a:pt x="15327765" y="15327765"/>
                </a:lnTo>
                <a:lnTo>
                  <a:pt x="15327765" y="0"/>
                </a:lnTo>
                <a:lnTo>
                  <a:pt x="0" y="0"/>
                </a:lnTo>
                <a:lnTo>
                  <a:pt x="0" y="1532776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462877" y="1633579"/>
            <a:ext cx="7302511" cy="3453411"/>
          </a:xfrm>
          <a:custGeom>
            <a:avLst/>
            <a:gdLst/>
            <a:ahLst/>
            <a:cxnLst/>
            <a:rect r="r" b="b" t="t" l="l"/>
            <a:pathLst>
              <a:path h="3453411" w="7302511">
                <a:moveTo>
                  <a:pt x="0" y="0"/>
                </a:moveTo>
                <a:lnTo>
                  <a:pt x="7302511" y="0"/>
                </a:lnTo>
                <a:lnTo>
                  <a:pt x="7302511" y="3453410"/>
                </a:lnTo>
                <a:lnTo>
                  <a:pt x="0" y="3453410"/>
                </a:lnTo>
                <a:lnTo>
                  <a:pt x="0" y="0"/>
                </a:lnTo>
                <a:close/>
              </a:path>
            </a:pathLst>
          </a:custGeom>
          <a:blipFill>
            <a:blip r:embed="rId6"/>
            <a:stretch>
              <a:fillRect l="0" t="-2467" r="0" b="-2467"/>
            </a:stretch>
          </a:blipFill>
        </p:spPr>
      </p:sp>
      <p:sp>
        <p:nvSpPr>
          <p:cNvPr name="Freeform 8" id="8"/>
          <p:cNvSpPr/>
          <p:nvPr/>
        </p:nvSpPr>
        <p:spPr>
          <a:xfrm flipH="false" flipV="false" rot="0">
            <a:off x="10462877" y="5351419"/>
            <a:ext cx="7302511" cy="4059920"/>
          </a:xfrm>
          <a:custGeom>
            <a:avLst/>
            <a:gdLst/>
            <a:ahLst/>
            <a:cxnLst/>
            <a:rect r="r" b="b" t="t" l="l"/>
            <a:pathLst>
              <a:path h="4059920" w="7302511">
                <a:moveTo>
                  <a:pt x="0" y="0"/>
                </a:moveTo>
                <a:lnTo>
                  <a:pt x="7302511" y="0"/>
                </a:lnTo>
                <a:lnTo>
                  <a:pt x="7302511" y="4059920"/>
                </a:lnTo>
                <a:lnTo>
                  <a:pt x="0" y="4059920"/>
                </a:lnTo>
                <a:lnTo>
                  <a:pt x="0" y="0"/>
                </a:lnTo>
                <a:close/>
              </a:path>
            </a:pathLst>
          </a:custGeom>
          <a:blipFill>
            <a:blip r:embed="rId7"/>
            <a:stretch>
              <a:fillRect l="-624" t="0" r="-624" b="0"/>
            </a:stretch>
          </a:blipFill>
        </p:spPr>
      </p:sp>
      <p:sp>
        <p:nvSpPr>
          <p:cNvPr name="TextBox 9" id="9"/>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04</a:t>
            </a:r>
          </a:p>
        </p:txBody>
      </p:sp>
      <p:sp>
        <p:nvSpPr>
          <p:cNvPr name="TextBox 10" id="10"/>
          <p:cNvSpPr txBox="true"/>
          <p:nvPr/>
        </p:nvSpPr>
        <p:spPr>
          <a:xfrm rot="0">
            <a:off x="226961" y="2136413"/>
            <a:ext cx="5030355" cy="2724786"/>
          </a:xfrm>
          <a:prstGeom prst="rect">
            <a:avLst/>
          </a:prstGeom>
        </p:spPr>
        <p:txBody>
          <a:bodyPr anchor="t" rtlCol="false" tIns="0" lIns="0" bIns="0" rIns="0">
            <a:spAutoFit/>
          </a:bodyPr>
          <a:lstStyle/>
          <a:p>
            <a:pPr algn="just">
              <a:lnSpc>
                <a:spcPts val="3639"/>
              </a:lnSpc>
            </a:pPr>
            <a:r>
              <a:rPr lang="en-US" sz="2599" spc="5">
                <a:solidFill>
                  <a:srgbClr val="FFFFFF"/>
                </a:solidFill>
                <a:latin typeface="Open Sauce"/>
                <a:ea typeface="Open Sauce"/>
                <a:cs typeface="Open Sauce"/>
                <a:sym typeface="Open Sauce"/>
              </a:rPr>
              <a:t>1. </a:t>
            </a:r>
            <a:r>
              <a:rPr lang="en-US" b="true" sz="2599" spc="5">
                <a:solidFill>
                  <a:srgbClr val="FFFFFF"/>
                </a:solidFill>
                <a:latin typeface="Open Sauce Bold"/>
                <a:ea typeface="Open Sauce Bold"/>
                <a:cs typeface="Open Sauce Bold"/>
                <a:sym typeface="Open Sauce Bold"/>
              </a:rPr>
              <a:t>Lecturers</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LecturerId (PK)</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Name</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Email</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DefaultHourlyRate</a:t>
            </a:r>
          </a:p>
          <a:p>
            <a:pPr algn="just">
              <a:lnSpc>
                <a:spcPts val="3639"/>
              </a:lnSpc>
              <a:spcBef>
                <a:spcPct val="0"/>
              </a:spcBef>
            </a:pPr>
          </a:p>
        </p:txBody>
      </p:sp>
      <p:sp>
        <p:nvSpPr>
          <p:cNvPr name="TextBox 11" id="11"/>
          <p:cNvSpPr txBox="true"/>
          <p:nvPr/>
        </p:nvSpPr>
        <p:spPr>
          <a:xfrm rot="0">
            <a:off x="4002185" y="259340"/>
            <a:ext cx="10283630" cy="941070"/>
          </a:xfrm>
          <a:prstGeom prst="rect">
            <a:avLst/>
          </a:prstGeom>
        </p:spPr>
        <p:txBody>
          <a:bodyPr anchor="t" rtlCol="false" tIns="0" lIns="0" bIns="0" rIns="0">
            <a:spAutoFit/>
          </a:bodyPr>
          <a:lstStyle/>
          <a:p>
            <a:pPr algn="just" marL="0" indent="0" lvl="0">
              <a:lnSpc>
                <a:spcPts val="7260"/>
              </a:lnSpc>
            </a:pPr>
            <a:r>
              <a:rPr lang="en-US" b="true" sz="6600" spc="13">
                <a:solidFill>
                  <a:srgbClr val="FFFFFF"/>
                </a:solidFill>
                <a:latin typeface="Open Sauce Bold"/>
                <a:ea typeface="Open Sauce Bold"/>
                <a:cs typeface="Open Sauce Bold"/>
                <a:sym typeface="Open Sauce Bold"/>
              </a:rPr>
              <a:t>DATABASE STRUCTURE</a:t>
            </a:r>
          </a:p>
        </p:txBody>
      </p:sp>
      <p:sp>
        <p:nvSpPr>
          <p:cNvPr name="TextBox 12" id="12"/>
          <p:cNvSpPr txBox="true"/>
          <p:nvPr/>
        </p:nvSpPr>
        <p:spPr>
          <a:xfrm rot="0">
            <a:off x="5257315" y="2136413"/>
            <a:ext cx="4855148" cy="6382386"/>
          </a:xfrm>
          <a:prstGeom prst="rect">
            <a:avLst/>
          </a:prstGeom>
        </p:spPr>
        <p:txBody>
          <a:bodyPr anchor="t" rtlCol="false" tIns="0" lIns="0" bIns="0" rIns="0">
            <a:spAutoFit/>
          </a:bodyPr>
          <a:lstStyle/>
          <a:p>
            <a:pPr algn="just">
              <a:lnSpc>
                <a:spcPts val="3639"/>
              </a:lnSpc>
            </a:pPr>
            <a:r>
              <a:rPr lang="en-US" sz="2599" spc="5">
                <a:solidFill>
                  <a:srgbClr val="FFFFFF"/>
                </a:solidFill>
                <a:latin typeface="Open Sauce"/>
                <a:ea typeface="Open Sauce"/>
                <a:cs typeface="Open Sauce"/>
                <a:sym typeface="Open Sauce"/>
              </a:rPr>
              <a:t>3. </a:t>
            </a:r>
            <a:r>
              <a:rPr lang="en-US" b="true" sz="2599" spc="5">
                <a:solidFill>
                  <a:srgbClr val="FFFFFF"/>
                </a:solidFill>
                <a:latin typeface="Open Sauce Bold"/>
                <a:ea typeface="Open Sauce Bold"/>
                <a:cs typeface="Open Sauce Bold"/>
                <a:sym typeface="Open Sauce Bold"/>
              </a:rPr>
              <a:t>Claims</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ClaimId (PK)</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LecturerId (FK)</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Month &amp; Year</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HoursWorked</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HourlyRate</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TotalAmount</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Status(Pending/Approved / Rejected)</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Sub</a:t>
            </a:r>
            <a:r>
              <a:rPr lang="en-US" sz="2599" spc="5">
                <a:solidFill>
                  <a:srgbClr val="FFFFFF"/>
                </a:solidFill>
                <a:latin typeface="Open Sauce"/>
                <a:ea typeface="Open Sauce"/>
                <a:cs typeface="Open Sauce"/>
                <a:sym typeface="Open Sauce"/>
              </a:rPr>
              <a:t>mittedOn</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Rev</a:t>
            </a:r>
            <a:r>
              <a:rPr lang="en-US" sz="2599" spc="5">
                <a:solidFill>
                  <a:srgbClr val="FFFFFF"/>
                </a:solidFill>
                <a:latin typeface="Open Sauce"/>
                <a:ea typeface="Open Sauce"/>
                <a:cs typeface="Open Sauce"/>
                <a:sym typeface="Open Sauce"/>
              </a:rPr>
              <a:t>iewedOn</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Approv</a:t>
            </a:r>
            <a:r>
              <a:rPr lang="en-US" sz="2599" spc="5">
                <a:solidFill>
                  <a:srgbClr val="FFFFFF"/>
                </a:solidFill>
                <a:latin typeface="Open Sauce"/>
                <a:ea typeface="Open Sauce"/>
                <a:cs typeface="Open Sauce"/>
                <a:sym typeface="Open Sauce"/>
              </a:rPr>
              <a:t>edByCoordinator</a:t>
            </a:r>
          </a:p>
          <a:p>
            <a:pPr algn="just" marL="561336" indent="-280668" lvl="1">
              <a:lnSpc>
                <a:spcPts val="3639"/>
              </a:lnSpc>
              <a:buFont typeface="Arial"/>
              <a:buChar char="•"/>
            </a:pPr>
            <a:r>
              <a:rPr lang="en-US" sz="2599" spc="5">
                <a:solidFill>
                  <a:srgbClr val="FFFFFF"/>
                </a:solidFill>
                <a:latin typeface="Open Sauce"/>
                <a:ea typeface="Open Sauce"/>
                <a:cs typeface="Open Sauce"/>
                <a:sym typeface="Open Sauce"/>
              </a:rPr>
              <a:t>ApprovedByManager</a:t>
            </a:r>
          </a:p>
          <a:p>
            <a:pPr algn="just">
              <a:lnSpc>
                <a:spcPts val="3639"/>
              </a:lnSpc>
              <a:spcBef>
                <a:spcPct val="0"/>
              </a:spcBef>
            </a:pPr>
          </a:p>
        </p:txBody>
      </p:sp>
      <p:sp>
        <p:nvSpPr>
          <p:cNvPr name="TextBox 13" id="13"/>
          <p:cNvSpPr txBox="true"/>
          <p:nvPr/>
        </p:nvSpPr>
        <p:spPr>
          <a:xfrm rot="0">
            <a:off x="226961" y="5803539"/>
            <a:ext cx="5279612" cy="2715260"/>
          </a:xfrm>
          <a:prstGeom prst="rect">
            <a:avLst/>
          </a:prstGeom>
        </p:spPr>
        <p:txBody>
          <a:bodyPr anchor="t" rtlCol="false" tIns="0" lIns="0" bIns="0" rIns="0">
            <a:spAutoFit/>
          </a:bodyPr>
          <a:lstStyle/>
          <a:p>
            <a:pPr algn="l">
              <a:lnSpc>
                <a:spcPts val="3640"/>
              </a:lnSpc>
              <a:spcBef>
                <a:spcPct val="0"/>
              </a:spcBef>
            </a:pPr>
            <a:r>
              <a:rPr lang="en-US" sz="2600" spc="5">
                <a:solidFill>
                  <a:srgbClr val="FFFFFF"/>
                </a:solidFill>
                <a:latin typeface="Open Sauce"/>
                <a:ea typeface="Open Sauce"/>
                <a:cs typeface="Open Sauce"/>
                <a:sym typeface="Open Sauce"/>
              </a:rPr>
              <a:t>2</a:t>
            </a:r>
            <a:r>
              <a:rPr lang="en-US" sz="2600" spc="5">
                <a:solidFill>
                  <a:srgbClr val="FFFFFF"/>
                </a:solidFill>
                <a:latin typeface="Open Sauce"/>
                <a:ea typeface="Open Sauce"/>
                <a:cs typeface="Open Sauce"/>
                <a:sym typeface="Open Sauce"/>
              </a:rPr>
              <a:t>.</a:t>
            </a:r>
            <a:r>
              <a:rPr lang="en-US" b="true" sz="2600" spc="5">
                <a:solidFill>
                  <a:srgbClr val="FFFFFF"/>
                </a:solidFill>
                <a:latin typeface="Open Sauce Bold"/>
                <a:ea typeface="Open Sauce Bold"/>
                <a:cs typeface="Open Sauce Bold"/>
                <a:sym typeface="Open Sauce Bold"/>
              </a:rPr>
              <a:t> Supporting Documents</a:t>
            </a:r>
          </a:p>
          <a:p>
            <a:pPr algn="l" marL="561341" indent="-280670" lvl="1">
              <a:lnSpc>
                <a:spcPts val="3640"/>
              </a:lnSpc>
              <a:buFont typeface="Arial"/>
              <a:buChar char="•"/>
            </a:pPr>
            <a:r>
              <a:rPr lang="en-US" sz="2600" spc="5">
                <a:solidFill>
                  <a:srgbClr val="FFFFFF"/>
                </a:solidFill>
                <a:latin typeface="Open Sauce"/>
                <a:ea typeface="Open Sauce"/>
                <a:cs typeface="Open Sauce"/>
                <a:sym typeface="Open Sauce"/>
              </a:rPr>
              <a:t>SupportingDocumentId (PK)</a:t>
            </a:r>
          </a:p>
          <a:p>
            <a:pPr algn="l" marL="561341" indent="-280670" lvl="1">
              <a:lnSpc>
                <a:spcPts val="3640"/>
              </a:lnSpc>
              <a:buFont typeface="Arial"/>
              <a:buChar char="•"/>
            </a:pPr>
            <a:r>
              <a:rPr lang="en-US" sz="2600" spc="5">
                <a:solidFill>
                  <a:srgbClr val="FFFFFF"/>
                </a:solidFill>
                <a:latin typeface="Open Sauce"/>
                <a:ea typeface="Open Sauce"/>
                <a:cs typeface="Open Sauce"/>
                <a:sym typeface="Open Sauce"/>
              </a:rPr>
              <a:t>ClaimId (FK)</a:t>
            </a:r>
          </a:p>
          <a:p>
            <a:pPr algn="l" marL="561341" indent="-280670" lvl="1">
              <a:lnSpc>
                <a:spcPts val="3640"/>
              </a:lnSpc>
              <a:buFont typeface="Arial"/>
              <a:buChar char="•"/>
            </a:pPr>
            <a:r>
              <a:rPr lang="en-US" sz="2600" spc="5">
                <a:solidFill>
                  <a:srgbClr val="FFFFFF"/>
                </a:solidFill>
                <a:latin typeface="Open Sauce"/>
                <a:ea typeface="Open Sauce"/>
                <a:cs typeface="Open Sauce"/>
                <a:sym typeface="Open Sauce"/>
              </a:rPr>
              <a:t>FileName</a:t>
            </a:r>
          </a:p>
          <a:p>
            <a:pPr algn="l" marL="561341" indent="-280670" lvl="1">
              <a:lnSpc>
                <a:spcPts val="3640"/>
              </a:lnSpc>
              <a:buFont typeface="Arial"/>
              <a:buChar char="•"/>
            </a:pPr>
            <a:r>
              <a:rPr lang="en-US" sz="2600" spc="5">
                <a:solidFill>
                  <a:srgbClr val="FFFFFF"/>
                </a:solidFill>
                <a:latin typeface="Open Sauce"/>
                <a:ea typeface="Open Sauce"/>
                <a:cs typeface="Open Sauce"/>
                <a:sym typeface="Open Sauce"/>
              </a:rPr>
              <a:t>FilePath</a:t>
            </a:r>
          </a:p>
          <a:p>
            <a:pPr algn="l" marL="561341" indent="-280670" lvl="1">
              <a:lnSpc>
                <a:spcPts val="3640"/>
              </a:lnSpc>
              <a:buFont typeface="Arial"/>
              <a:buChar char="•"/>
            </a:pPr>
            <a:r>
              <a:rPr lang="en-US" sz="2600" spc="5">
                <a:solidFill>
                  <a:srgbClr val="FFFFFF"/>
                </a:solidFill>
                <a:latin typeface="Open Sauce"/>
                <a:ea typeface="Open Sauce"/>
                <a:cs typeface="Open Sauce"/>
                <a:sym typeface="Open Sauce"/>
              </a:rPr>
              <a:t>UploadedOn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481179" y="576468"/>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true" rot="-5400000">
            <a:off x="-3927101" y="-4084638"/>
            <a:ext cx="8558066" cy="8573655"/>
          </a:xfrm>
          <a:custGeom>
            <a:avLst/>
            <a:gdLst/>
            <a:ahLst/>
            <a:cxnLst/>
            <a:rect r="r" b="b" t="t" l="l"/>
            <a:pathLst>
              <a:path h="8573655" w="8558066">
                <a:moveTo>
                  <a:pt x="0" y="8573655"/>
                </a:moveTo>
                <a:lnTo>
                  <a:pt x="8558067" y="8573655"/>
                </a:lnTo>
                <a:lnTo>
                  <a:pt x="8558067" y="0"/>
                </a:lnTo>
                <a:lnTo>
                  <a:pt x="0" y="0"/>
                </a:lnTo>
                <a:lnTo>
                  <a:pt x="0" y="857365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6200510" y="-2640691"/>
            <a:ext cx="16222177" cy="16222177"/>
          </a:xfrm>
          <a:custGeom>
            <a:avLst/>
            <a:gdLst/>
            <a:ahLst/>
            <a:cxnLst/>
            <a:rect r="r" b="b" t="t" l="l"/>
            <a:pathLst>
              <a:path h="16222177" w="16222177">
                <a:moveTo>
                  <a:pt x="16222177" y="16222177"/>
                </a:moveTo>
                <a:lnTo>
                  <a:pt x="0" y="16222177"/>
                </a:lnTo>
                <a:lnTo>
                  <a:pt x="0" y="0"/>
                </a:lnTo>
                <a:lnTo>
                  <a:pt x="16222177" y="0"/>
                </a:lnTo>
                <a:lnTo>
                  <a:pt x="16222177" y="162221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05</a:t>
            </a:r>
          </a:p>
        </p:txBody>
      </p:sp>
      <p:sp>
        <p:nvSpPr>
          <p:cNvPr name="TextBox 8" id="8"/>
          <p:cNvSpPr txBox="true"/>
          <p:nvPr/>
        </p:nvSpPr>
        <p:spPr>
          <a:xfrm rot="0">
            <a:off x="3765431" y="410152"/>
            <a:ext cx="10095636" cy="941070"/>
          </a:xfrm>
          <a:prstGeom prst="rect">
            <a:avLst/>
          </a:prstGeom>
        </p:spPr>
        <p:txBody>
          <a:bodyPr anchor="t" rtlCol="false" tIns="0" lIns="0" bIns="0" rIns="0">
            <a:spAutoFit/>
          </a:bodyPr>
          <a:lstStyle/>
          <a:p>
            <a:pPr algn="just" marL="0" indent="0" lvl="0">
              <a:lnSpc>
                <a:spcPts val="7260"/>
              </a:lnSpc>
            </a:pPr>
            <a:r>
              <a:rPr lang="en-US" b="true" sz="6600" spc="13">
                <a:solidFill>
                  <a:srgbClr val="FFFFFF"/>
                </a:solidFill>
                <a:latin typeface="Open Sauce Bold"/>
                <a:ea typeface="Open Sauce Bold"/>
                <a:cs typeface="Open Sauce Bold"/>
                <a:sym typeface="Open Sauce Bold"/>
              </a:rPr>
              <a:t> PART 1: GUI OVERVIEW </a:t>
            </a:r>
          </a:p>
        </p:txBody>
      </p:sp>
      <p:sp>
        <p:nvSpPr>
          <p:cNvPr name="TextBox 9" id="9"/>
          <p:cNvSpPr txBox="true"/>
          <p:nvPr/>
        </p:nvSpPr>
        <p:spPr>
          <a:xfrm rot="0">
            <a:off x="1181102" y="2126632"/>
            <a:ext cx="7962898" cy="1846929"/>
          </a:xfrm>
          <a:prstGeom prst="rect">
            <a:avLst/>
          </a:prstGeom>
        </p:spPr>
        <p:txBody>
          <a:bodyPr anchor="t" rtlCol="false" tIns="0" lIns="0" bIns="0" rIns="0">
            <a:spAutoFit/>
          </a:bodyPr>
          <a:lstStyle/>
          <a:p>
            <a:pPr algn="l">
              <a:lnSpc>
                <a:spcPts val="3725"/>
              </a:lnSpc>
              <a:spcBef>
                <a:spcPct val="0"/>
              </a:spcBef>
            </a:pPr>
            <a:r>
              <a:rPr lang="en-US" sz="2661" spc="5">
                <a:solidFill>
                  <a:srgbClr val="FFFFFF"/>
                </a:solidFill>
                <a:latin typeface="Open Sauce"/>
                <a:ea typeface="Open Sauce"/>
                <a:cs typeface="Open Sauce"/>
                <a:sym typeface="Open Sauce"/>
              </a:rPr>
              <a:t> </a:t>
            </a:r>
            <a:r>
              <a:rPr lang="en-US" b="true" sz="2661" spc="5">
                <a:solidFill>
                  <a:srgbClr val="FFFFFF"/>
                </a:solidFill>
                <a:latin typeface="Open Sauce Bold"/>
                <a:ea typeface="Open Sauce Bold"/>
                <a:cs typeface="Open Sauce Bold"/>
                <a:sym typeface="Open Sauce Bold"/>
              </a:rPr>
              <a:t>Lecturer View</a:t>
            </a:r>
          </a:p>
          <a:p>
            <a:pPr algn="l" marL="574563" indent="-287282" lvl="1">
              <a:lnSpc>
                <a:spcPts val="3725"/>
              </a:lnSpc>
              <a:buFont typeface="Arial"/>
              <a:buChar char="•"/>
            </a:pPr>
            <a:r>
              <a:rPr lang="en-US" sz="2661" spc="5">
                <a:solidFill>
                  <a:srgbClr val="FFFFFF"/>
                </a:solidFill>
                <a:latin typeface="Open Sauce"/>
                <a:ea typeface="Open Sauce"/>
                <a:cs typeface="Open Sauce"/>
                <a:sym typeface="Open Sauce"/>
              </a:rPr>
              <a:t>Form to input claim details</a:t>
            </a:r>
          </a:p>
          <a:p>
            <a:pPr algn="l" marL="574563" indent="-287282" lvl="1">
              <a:lnSpc>
                <a:spcPts val="3725"/>
              </a:lnSpc>
              <a:buFont typeface="Arial"/>
              <a:buChar char="•"/>
            </a:pPr>
            <a:r>
              <a:rPr lang="en-US" sz="2661" spc="5">
                <a:solidFill>
                  <a:srgbClr val="FFFFFF"/>
                </a:solidFill>
                <a:latin typeface="Open Sauce"/>
                <a:ea typeface="Open Sauce"/>
                <a:cs typeface="Open Sauce"/>
                <a:sym typeface="Open Sauce"/>
              </a:rPr>
              <a:t>Upload supporting docs</a:t>
            </a:r>
          </a:p>
          <a:p>
            <a:pPr algn="l" marL="574563" indent="-287282" lvl="1">
              <a:lnSpc>
                <a:spcPts val="3725"/>
              </a:lnSpc>
              <a:buFont typeface="Arial"/>
              <a:buChar char="•"/>
            </a:pPr>
            <a:r>
              <a:rPr lang="en-US" sz="2661" spc="5">
                <a:solidFill>
                  <a:srgbClr val="FFFFFF"/>
                </a:solidFill>
                <a:latin typeface="Open Sauce"/>
                <a:ea typeface="Open Sauce"/>
                <a:cs typeface="Open Sauce"/>
                <a:sym typeface="Open Sauce"/>
              </a:rPr>
              <a:t>Clear layout with labeled fields</a:t>
            </a:r>
          </a:p>
        </p:txBody>
      </p:sp>
      <p:sp>
        <p:nvSpPr>
          <p:cNvPr name="TextBox 10" id="10"/>
          <p:cNvSpPr txBox="true"/>
          <p:nvPr/>
        </p:nvSpPr>
        <p:spPr>
          <a:xfrm rot="0">
            <a:off x="1181102" y="4433598"/>
            <a:ext cx="6579594" cy="1380456"/>
          </a:xfrm>
          <a:prstGeom prst="rect">
            <a:avLst/>
          </a:prstGeom>
        </p:spPr>
        <p:txBody>
          <a:bodyPr anchor="t" rtlCol="false" tIns="0" lIns="0" bIns="0" rIns="0">
            <a:spAutoFit/>
          </a:bodyPr>
          <a:lstStyle/>
          <a:p>
            <a:pPr algn="l">
              <a:lnSpc>
                <a:spcPts val="3711"/>
              </a:lnSpc>
              <a:spcBef>
                <a:spcPct val="0"/>
              </a:spcBef>
            </a:pPr>
            <a:r>
              <a:rPr lang="en-US" b="true" sz="2651" spc="5">
                <a:solidFill>
                  <a:srgbClr val="FFFFFF"/>
                </a:solidFill>
                <a:latin typeface="Open Sauce Bold"/>
                <a:ea typeface="Open Sauce Bold"/>
                <a:cs typeface="Open Sauce Bold"/>
                <a:sym typeface="Open Sauce Bold"/>
              </a:rPr>
              <a:t>Coordinator View</a:t>
            </a:r>
          </a:p>
          <a:p>
            <a:pPr algn="l" marL="572424" indent="-286212" lvl="1">
              <a:lnSpc>
                <a:spcPts val="3711"/>
              </a:lnSpc>
              <a:buFont typeface="Arial"/>
              <a:buChar char="•"/>
            </a:pPr>
            <a:r>
              <a:rPr lang="en-US" sz="2651" spc="5">
                <a:solidFill>
                  <a:srgbClr val="FFFFFF"/>
                </a:solidFill>
                <a:latin typeface="Open Sauce"/>
                <a:ea typeface="Open Sauce"/>
                <a:cs typeface="Open Sauce"/>
                <a:sym typeface="Open Sauce"/>
              </a:rPr>
              <a:t>Table listing submitted claims</a:t>
            </a:r>
          </a:p>
          <a:p>
            <a:pPr algn="l" marL="572424" indent="-286212" lvl="1">
              <a:lnSpc>
                <a:spcPts val="3711"/>
              </a:lnSpc>
              <a:buFont typeface="Arial"/>
              <a:buChar char="•"/>
            </a:pPr>
            <a:r>
              <a:rPr lang="en-US" sz="2651" spc="5">
                <a:solidFill>
                  <a:srgbClr val="FFFFFF"/>
                </a:solidFill>
                <a:latin typeface="Open Sauce"/>
                <a:ea typeface="Open Sauce"/>
                <a:cs typeface="Open Sauce"/>
                <a:sym typeface="Open Sauce"/>
              </a:rPr>
              <a:t>Approve / Reject buttons</a:t>
            </a:r>
          </a:p>
        </p:txBody>
      </p:sp>
      <p:sp>
        <p:nvSpPr>
          <p:cNvPr name="TextBox 11" id="11"/>
          <p:cNvSpPr txBox="true"/>
          <p:nvPr/>
        </p:nvSpPr>
        <p:spPr>
          <a:xfrm rot="0">
            <a:off x="1181102" y="6271254"/>
            <a:ext cx="6926482" cy="1847181"/>
          </a:xfrm>
          <a:prstGeom prst="rect">
            <a:avLst/>
          </a:prstGeom>
        </p:spPr>
        <p:txBody>
          <a:bodyPr anchor="t" rtlCol="false" tIns="0" lIns="0" bIns="0" rIns="0">
            <a:spAutoFit/>
          </a:bodyPr>
          <a:lstStyle/>
          <a:p>
            <a:pPr algn="l">
              <a:lnSpc>
                <a:spcPts val="3711"/>
              </a:lnSpc>
              <a:spcBef>
                <a:spcPct val="0"/>
              </a:spcBef>
            </a:pPr>
            <a:r>
              <a:rPr lang="en-US" b="true" sz="2651" spc="5">
                <a:solidFill>
                  <a:srgbClr val="FFFFFF"/>
                </a:solidFill>
                <a:latin typeface="Open Sauce Bold"/>
                <a:ea typeface="Open Sauce Bold"/>
                <a:cs typeface="Open Sauce Bold"/>
                <a:sym typeface="Open Sauce Bold"/>
              </a:rPr>
              <a:t>HR View</a:t>
            </a:r>
          </a:p>
          <a:p>
            <a:pPr algn="l" marL="572424" indent="-286212" lvl="1">
              <a:lnSpc>
                <a:spcPts val="3711"/>
              </a:lnSpc>
              <a:buFont typeface="Arial"/>
              <a:buChar char="•"/>
            </a:pPr>
            <a:r>
              <a:rPr lang="en-US" sz="2651" spc="5">
                <a:solidFill>
                  <a:srgbClr val="FFFFFF"/>
                </a:solidFill>
                <a:latin typeface="Open Sauce"/>
                <a:ea typeface="Open Sauce"/>
                <a:cs typeface="Open Sauce"/>
                <a:sym typeface="Open Sauce"/>
              </a:rPr>
              <a:t>Concept layout for viewing approved claims</a:t>
            </a:r>
          </a:p>
          <a:p>
            <a:pPr algn="l" marL="572424" indent="-286212" lvl="1">
              <a:lnSpc>
                <a:spcPts val="3711"/>
              </a:lnSpc>
              <a:buFont typeface="Arial"/>
              <a:buChar char="•"/>
            </a:pPr>
            <a:r>
              <a:rPr lang="en-US" sz="2651" spc="5">
                <a:solidFill>
                  <a:srgbClr val="FFFFFF"/>
                </a:solidFill>
                <a:latin typeface="Open Sauce"/>
                <a:ea typeface="Open Sauce"/>
                <a:cs typeface="Open Sauce"/>
                <a:sym typeface="Open Sauce"/>
              </a:rPr>
              <a:t>Ability to export data for payroll</a:t>
            </a:r>
          </a:p>
        </p:txBody>
      </p:sp>
      <p:sp>
        <p:nvSpPr>
          <p:cNvPr name="TextBox 12" id="12"/>
          <p:cNvSpPr txBox="true"/>
          <p:nvPr/>
        </p:nvSpPr>
        <p:spPr>
          <a:xfrm rot="0">
            <a:off x="9771873" y="2453529"/>
            <a:ext cx="7628736" cy="5986111"/>
          </a:xfrm>
          <a:prstGeom prst="rect">
            <a:avLst/>
          </a:prstGeom>
        </p:spPr>
        <p:txBody>
          <a:bodyPr anchor="t" rtlCol="false" tIns="0" lIns="0" bIns="0" rIns="0">
            <a:spAutoFit/>
          </a:bodyPr>
          <a:lstStyle/>
          <a:p>
            <a:pPr algn="just">
              <a:lnSpc>
                <a:spcPts val="3431"/>
              </a:lnSpc>
              <a:spcBef>
                <a:spcPct val="0"/>
              </a:spcBef>
            </a:pPr>
            <a:r>
              <a:rPr lang="en-US" sz="2451" spc="4">
                <a:solidFill>
                  <a:srgbClr val="FFFFFF"/>
                </a:solidFill>
                <a:latin typeface="Open Sauce"/>
                <a:ea typeface="Open Sauce"/>
                <a:cs typeface="Open Sauce"/>
                <a:sym typeface="Open Sauce"/>
              </a:rPr>
              <a:t>This system has been extensively developed utilizing ASP.NET Core MVC, Entity Framework Core, and SQL Server as necessary. Every automation capability within Lecturer, Coordinator, and HR workflows has been completely created, examined, and approved. The database was established using EF Core migrations, and a full SQL script has been supplied for validation. Every view is functional, adaptable, and demonstrates the appropriate approval process for various user roles. Included are supporting documents, diagrams, and GitHub repository files to guarantee complete transparency for assessment and system evaluation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6072687" y="568846"/>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true" rot="-5400000">
            <a:off x="-2575505" y="-3810794"/>
            <a:ext cx="8558066" cy="8573655"/>
          </a:xfrm>
          <a:custGeom>
            <a:avLst/>
            <a:gdLst/>
            <a:ahLst/>
            <a:cxnLst/>
            <a:rect r="r" b="b" t="t" l="l"/>
            <a:pathLst>
              <a:path h="8573655" w="8558066">
                <a:moveTo>
                  <a:pt x="0" y="8573655"/>
                </a:moveTo>
                <a:lnTo>
                  <a:pt x="8558067" y="8573655"/>
                </a:lnTo>
                <a:lnTo>
                  <a:pt x="8558067" y="0"/>
                </a:lnTo>
                <a:lnTo>
                  <a:pt x="0" y="0"/>
                </a:lnTo>
                <a:lnTo>
                  <a:pt x="0" y="857365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3017206" y="4964754"/>
            <a:ext cx="9451683" cy="9451683"/>
          </a:xfrm>
          <a:custGeom>
            <a:avLst/>
            <a:gdLst/>
            <a:ahLst/>
            <a:cxnLst/>
            <a:rect r="r" b="b" t="t" l="l"/>
            <a:pathLst>
              <a:path h="9451683" w="9451683">
                <a:moveTo>
                  <a:pt x="9451682" y="9451682"/>
                </a:moveTo>
                <a:lnTo>
                  <a:pt x="0" y="9451682"/>
                </a:lnTo>
                <a:lnTo>
                  <a:pt x="0" y="0"/>
                </a:lnTo>
                <a:lnTo>
                  <a:pt x="9451682" y="0"/>
                </a:lnTo>
                <a:lnTo>
                  <a:pt x="9451682" y="945168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479230" y="2120310"/>
            <a:ext cx="11512887" cy="7137990"/>
          </a:xfrm>
          <a:custGeom>
            <a:avLst/>
            <a:gdLst/>
            <a:ahLst/>
            <a:cxnLst/>
            <a:rect r="r" b="b" t="t" l="l"/>
            <a:pathLst>
              <a:path h="7137990" w="11512887">
                <a:moveTo>
                  <a:pt x="0" y="0"/>
                </a:moveTo>
                <a:lnTo>
                  <a:pt x="11512886" y="0"/>
                </a:lnTo>
                <a:lnTo>
                  <a:pt x="11512886" y="7137990"/>
                </a:lnTo>
                <a:lnTo>
                  <a:pt x="0" y="7137990"/>
                </a:lnTo>
                <a:lnTo>
                  <a:pt x="0" y="0"/>
                </a:lnTo>
                <a:close/>
              </a:path>
            </a:pathLst>
          </a:custGeom>
          <a:blipFill>
            <a:blip r:embed="rId6"/>
            <a:stretch>
              <a:fillRect l="0" t="0" r="0" b="0"/>
            </a:stretch>
          </a:blipFill>
        </p:spPr>
      </p:sp>
      <p:sp>
        <p:nvSpPr>
          <p:cNvPr name="TextBox 8" id="8"/>
          <p:cNvSpPr txBox="true"/>
          <p:nvPr/>
        </p:nvSpPr>
        <p:spPr>
          <a:xfrm rot="0">
            <a:off x="16321756"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06</a:t>
            </a:r>
          </a:p>
        </p:txBody>
      </p:sp>
      <p:sp>
        <p:nvSpPr>
          <p:cNvPr name="TextBox 9" id="9"/>
          <p:cNvSpPr txBox="true"/>
          <p:nvPr/>
        </p:nvSpPr>
        <p:spPr>
          <a:xfrm rot="0">
            <a:off x="1897234" y="441267"/>
            <a:ext cx="13574744" cy="878840"/>
          </a:xfrm>
          <a:prstGeom prst="rect">
            <a:avLst/>
          </a:prstGeom>
        </p:spPr>
        <p:txBody>
          <a:bodyPr anchor="t" rtlCol="false" tIns="0" lIns="0" bIns="0" rIns="0">
            <a:spAutoFit/>
          </a:bodyPr>
          <a:lstStyle/>
          <a:p>
            <a:pPr algn="just" marL="0" indent="0" lvl="0">
              <a:lnSpc>
                <a:spcPts val="6820"/>
              </a:lnSpc>
            </a:pPr>
            <a:r>
              <a:rPr lang="en-US" b="true" sz="6200" spc="12">
                <a:solidFill>
                  <a:srgbClr val="FFFFFF"/>
                </a:solidFill>
                <a:latin typeface="Open Sauce Bold"/>
                <a:ea typeface="Open Sauce Bold"/>
                <a:cs typeface="Open Sauce Bold"/>
                <a:sym typeface="Open Sauce Bold"/>
              </a:rPr>
              <a:t>PART 2: IMPLEMENTED FEATURES</a:t>
            </a:r>
          </a:p>
        </p:txBody>
      </p:sp>
      <p:sp>
        <p:nvSpPr>
          <p:cNvPr name="TextBox 10" id="10"/>
          <p:cNvSpPr txBox="true"/>
          <p:nvPr/>
        </p:nvSpPr>
        <p:spPr>
          <a:xfrm rot="0">
            <a:off x="429087" y="1811179"/>
            <a:ext cx="6225350" cy="2845435"/>
          </a:xfrm>
          <a:prstGeom prst="rect">
            <a:avLst/>
          </a:prstGeom>
        </p:spPr>
        <p:txBody>
          <a:bodyPr anchor="t" rtlCol="false" tIns="0" lIns="0" bIns="0" rIns="0">
            <a:spAutoFit/>
          </a:bodyPr>
          <a:lstStyle/>
          <a:p>
            <a:pPr algn="l">
              <a:lnSpc>
                <a:spcPts val="3290"/>
              </a:lnSpc>
            </a:pPr>
            <a:r>
              <a:rPr lang="en-US" b="true" sz="2350" spc="4">
                <a:solidFill>
                  <a:srgbClr val="FFFFFF"/>
                </a:solidFill>
                <a:latin typeface="Open Sauce Bold"/>
                <a:ea typeface="Open Sauce Bold"/>
                <a:cs typeface="Open Sauce Bold"/>
                <a:sym typeface="Open Sauce Bold"/>
              </a:rPr>
              <a:t>Lecturer Featu</a:t>
            </a:r>
            <a:r>
              <a:rPr lang="en-US" b="true" sz="2350" spc="4">
                <a:solidFill>
                  <a:srgbClr val="FFFFFF"/>
                </a:solidFill>
                <a:latin typeface="Open Sauce Bold"/>
                <a:ea typeface="Open Sauce Bold"/>
                <a:cs typeface="Open Sauce Bold"/>
                <a:sym typeface="Open Sauce Bold"/>
              </a:rPr>
              <a:t>res Implemented:</a:t>
            </a:r>
          </a:p>
          <a:p>
            <a:pPr algn="l" marL="507366" indent="-253683" lvl="1">
              <a:lnSpc>
                <a:spcPts val="3290"/>
              </a:lnSpc>
              <a:buFont typeface="Arial"/>
              <a:buChar char="•"/>
            </a:pPr>
            <a:r>
              <a:rPr lang="en-US" sz="2350" spc="4">
                <a:solidFill>
                  <a:srgbClr val="FFFFFF"/>
                </a:solidFill>
                <a:latin typeface="Open Sauce"/>
                <a:ea typeface="Open Sauce"/>
                <a:cs typeface="Open Sauce"/>
                <a:sym typeface="Open Sauce"/>
              </a:rPr>
              <a:t>Submit claim</a:t>
            </a:r>
          </a:p>
          <a:p>
            <a:pPr algn="l" marL="507366" indent="-253683" lvl="1">
              <a:lnSpc>
                <a:spcPts val="3290"/>
              </a:lnSpc>
              <a:buFont typeface="Arial"/>
              <a:buChar char="•"/>
            </a:pPr>
            <a:r>
              <a:rPr lang="en-US" sz="2350" spc="4">
                <a:solidFill>
                  <a:srgbClr val="FFFFFF"/>
                </a:solidFill>
                <a:latin typeface="Open Sauce"/>
                <a:ea typeface="Open Sauce"/>
                <a:cs typeface="Open Sauce"/>
                <a:sym typeface="Open Sauce"/>
              </a:rPr>
              <a:t>Auto-calculate total amount (Hours × Rate)</a:t>
            </a:r>
          </a:p>
          <a:p>
            <a:pPr algn="l" marL="507366" indent="-253683" lvl="1">
              <a:lnSpc>
                <a:spcPts val="3290"/>
              </a:lnSpc>
              <a:buFont typeface="Arial"/>
              <a:buChar char="•"/>
            </a:pPr>
            <a:r>
              <a:rPr lang="en-US" sz="2350" spc="4">
                <a:solidFill>
                  <a:srgbClr val="FFFFFF"/>
                </a:solidFill>
                <a:latin typeface="Open Sauce"/>
                <a:ea typeface="Open Sauce"/>
                <a:cs typeface="Open Sauce"/>
                <a:sym typeface="Open Sauce"/>
              </a:rPr>
              <a:t>Upload supporting documents</a:t>
            </a:r>
          </a:p>
          <a:p>
            <a:pPr algn="l" marL="507366" indent="-253683" lvl="1">
              <a:lnSpc>
                <a:spcPts val="3290"/>
              </a:lnSpc>
              <a:buFont typeface="Arial"/>
              <a:buChar char="•"/>
            </a:pPr>
            <a:r>
              <a:rPr lang="en-US" sz="2350" spc="4">
                <a:solidFill>
                  <a:srgbClr val="FFFFFF"/>
                </a:solidFill>
                <a:latin typeface="Open Sauce"/>
                <a:ea typeface="Open Sauce"/>
                <a:cs typeface="Open Sauce"/>
                <a:sym typeface="Open Sauce"/>
              </a:rPr>
              <a:t>Client-side + server-side validation</a:t>
            </a:r>
          </a:p>
          <a:p>
            <a:pPr algn="l">
              <a:lnSpc>
                <a:spcPts val="3290"/>
              </a:lnSpc>
            </a:pPr>
          </a:p>
        </p:txBody>
      </p:sp>
      <p:sp>
        <p:nvSpPr>
          <p:cNvPr name="TextBox 11" id="11"/>
          <p:cNvSpPr txBox="true"/>
          <p:nvPr/>
        </p:nvSpPr>
        <p:spPr>
          <a:xfrm rot="0">
            <a:off x="429087" y="4880134"/>
            <a:ext cx="5739943" cy="2435826"/>
          </a:xfrm>
          <a:prstGeom prst="rect">
            <a:avLst/>
          </a:prstGeom>
        </p:spPr>
        <p:txBody>
          <a:bodyPr anchor="t" rtlCol="false" tIns="0" lIns="0" bIns="0" rIns="0">
            <a:spAutoFit/>
          </a:bodyPr>
          <a:lstStyle/>
          <a:p>
            <a:pPr algn="l">
              <a:lnSpc>
                <a:spcPts val="3291"/>
              </a:lnSpc>
              <a:spcBef>
                <a:spcPct val="0"/>
              </a:spcBef>
            </a:pPr>
            <a:r>
              <a:rPr lang="en-US" b="true" sz="2351" spc="4">
                <a:solidFill>
                  <a:srgbClr val="FFFFFF"/>
                </a:solidFill>
                <a:latin typeface="Open Sauce Bold"/>
                <a:ea typeface="Open Sauce Bold"/>
                <a:cs typeface="Open Sauce Bold"/>
                <a:sym typeface="Open Sauce Bold"/>
              </a:rPr>
              <a:t>Coordinator &amp; Manager Features:</a:t>
            </a:r>
          </a:p>
          <a:p>
            <a:pPr algn="l" marL="507656" indent="-253828" lvl="1">
              <a:lnSpc>
                <a:spcPts val="3291"/>
              </a:lnSpc>
              <a:buFont typeface="Arial"/>
              <a:buChar char="•"/>
            </a:pPr>
            <a:r>
              <a:rPr lang="en-US" sz="2351" spc="4">
                <a:solidFill>
                  <a:srgbClr val="FFFFFF"/>
                </a:solidFill>
                <a:latin typeface="Open Sauce"/>
                <a:ea typeface="Open Sauce"/>
                <a:cs typeface="Open Sauce"/>
                <a:sym typeface="Open Sauce"/>
              </a:rPr>
              <a:t>View </a:t>
            </a:r>
            <a:r>
              <a:rPr lang="en-US" sz="2351" spc="4">
                <a:solidFill>
                  <a:srgbClr val="FFFFFF"/>
                </a:solidFill>
                <a:latin typeface="Open Sauce"/>
                <a:ea typeface="Open Sauce"/>
                <a:cs typeface="Open Sauce"/>
                <a:sym typeface="Open Sauce"/>
              </a:rPr>
              <a:t>all claims</a:t>
            </a:r>
          </a:p>
          <a:p>
            <a:pPr algn="l" marL="507656" indent="-253828" lvl="1">
              <a:lnSpc>
                <a:spcPts val="3291"/>
              </a:lnSpc>
              <a:buFont typeface="Arial"/>
              <a:buChar char="•"/>
            </a:pPr>
            <a:r>
              <a:rPr lang="en-US" sz="2351" spc="4">
                <a:solidFill>
                  <a:srgbClr val="FFFFFF"/>
                </a:solidFill>
                <a:latin typeface="Open Sauce"/>
                <a:ea typeface="Open Sauce"/>
                <a:cs typeface="Open Sauce"/>
                <a:sym typeface="Open Sauce"/>
              </a:rPr>
              <a:t>Approve or reject</a:t>
            </a:r>
          </a:p>
          <a:p>
            <a:pPr algn="l" marL="507656" indent="-253828" lvl="1">
              <a:lnSpc>
                <a:spcPts val="3291"/>
              </a:lnSpc>
              <a:buFont typeface="Arial"/>
              <a:buChar char="•"/>
            </a:pPr>
            <a:r>
              <a:rPr lang="en-US" sz="2351" spc="4">
                <a:solidFill>
                  <a:srgbClr val="FFFFFF"/>
                </a:solidFill>
                <a:latin typeface="Open Sauce"/>
                <a:ea typeface="Open Sauce"/>
                <a:cs typeface="Open Sauce"/>
                <a:sym typeface="Open Sauce"/>
              </a:rPr>
              <a:t>Status updates in real time</a:t>
            </a:r>
          </a:p>
          <a:p>
            <a:pPr algn="l" marL="507656" indent="-253828" lvl="1">
              <a:lnSpc>
                <a:spcPts val="3291"/>
              </a:lnSpc>
              <a:buFont typeface="Arial"/>
              <a:buChar char="•"/>
            </a:pPr>
            <a:r>
              <a:rPr lang="en-US" sz="2351" spc="4">
                <a:solidFill>
                  <a:srgbClr val="FFFFFF"/>
                </a:solidFill>
                <a:latin typeface="Open Sauce"/>
                <a:ea typeface="Open Sauce"/>
                <a:cs typeface="Open Sauce"/>
                <a:sym typeface="Open Sauce"/>
              </a:rPr>
              <a:t>View uploaded documents</a:t>
            </a:r>
          </a:p>
          <a:p>
            <a:pPr algn="l">
              <a:lnSpc>
                <a:spcPts val="3291"/>
              </a:lnSpc>
            </a:pPr>
          </a:p>
        </p:txBody>
      </p:sp>
      <p:sp>
        <p:nvSpPr>
          <p:cNvPr name="TextBox 12" id="12"/>
          <p:cNvSpPr txBox="true"/>
          <p:nvPr/>
        </p:nvSpPr>
        <p:spPr>
          <a:xfrm rot="0">
            <a:off x="429087" y="7449973"/>
            <a:ext cx="5406155" cy="2026251"/>
          </a:xfrm>
          <a:prstGeom prst="rect">
            <a:avLst/>
          </a:prstGeom>
        </p:spPr>
        <p:txBody>
          <a:bodyPr anchor="t" rtlCol="false" tIns="0" lIns="0" bIns="0" rIns="0">
            <a:spAutoFit/>
          </a:bodyPr>
          <a:lstStyle/>
          <a:p>
            <a:pPr algn="l">
              <a:lnSpc>
                <a:spcPts val="3291"/>
              </a:lnSpc>
              <a:spcBef>
                <a:spcPct val="0"/>
              </a:spcBef>
            </a:pPr>
            <a:r>
              <a:rPr lang="en-US" b="true" sz="2351" spc="4">
                <a:solidFill>
                  <a:srgbClr val="FFFFFF"/>
                </a:solidFill>
                <a:latin typeface="Open Sauce Bold"/>
                <a:ea typeface="Open Sauce Bold"/>
                <a:cs typeface="Open Sauce Bold"/>
                <a:sym typeface="Open Sauce Bold"/>
              </a:rPr>
              <a:t>Data</a:t>
            </a:r>
            <a:r>
              <a:rPr lang="en-US" b="true" sz="2351" spc="4">
                <a:solidFill>
                  <a:srgbClr val="FFFFFF"/>
                </a:solidFill>
                <a:latin typeface="Open Sauce Bold"/>
                <a:ea typeface="Open Sauce Bold"/>
                <a:cs typeface="Open Sauce Bold"/>
                <a:sym typeface="Open Sauce Bold"/>
              </a:rPr>
              <a:t> Storage</a:t>
            </a:r>
          </a:p>
          <a:p>
            <a:pPr algn="l" marL="507656" indent="-253828" lvl="1">
              <a:lnSpc>
                <a:spcPts val="3291"/>
              </a:lnSpc>
              <a:buFont typeface="Arial"/>
              <a:buChar char="•"/>
            </a:pPr>
            <a:r>
              <a:rPr lang="en-US" sz="2351" spc="4">
                <a:solidFill>
                  <a:srgbClr val="FFFFFF"/>
                </a:solidFill>
                <a:latin typeface="Open Sauce"/>
                <a:ea typeface="Open Sauce"/>
                <a:cs typeface="Open Sauce"/>
                <a:sym typeface="Open Sauce"/>
              </a:rPr>
              <a:t>EF </a:t>
            </a:r>
            <a:r>
              <a:rPr lang="en-US" sz="2351" spc="4">
                <a:solidFill>
                  <a:srgbClr val="FFFFFF"/>
                </a:solidFill>
                <a:latin typeface="Open Sauce"/>
                <a:ea typeface="Open Sauce"/>
                <a:cs typeface="Open Sauce"/>
                <a:sym typeface="Open Sauce"/>
              </a:rPr>
              <a:t>Core + MSSQL</a:t>
            </a:r>
          </a:p>
          <a:p>
            <a:pPr algn="l" marL="507656" indent="-253828" lvl="1">
              <a:lnSpc>
                <a:spcPts val="3291"/>
              </a:lnSpc>
              <a:buFont typeface="Arial"/>
              <a:buChar char="•"/>
            </a:pPr>
            <a:r>
              <a:rPr lang="en-US" sz="2351" spc="4">
                <a:solidFill>
                  <a:srgbClr val="FFFFFF"/>
                </a:solidFill>
                <a:latin typeface="Open Sauce"/>
                <a:ea typeface="Open Sauce"/>
                <a:cs typeface="Open Sauce"/>
                <a:sym typeface="Open Sauce"/>
              </a:rPr>
              <a:t>Unique Claim + Document IDs</a:t>
            </a:r>
          </a:p>
          <a:p>
            <a:pPr algn="l" marL="507656" indent="-253828" lvl="1">
              <a:lnSpc>
                <a:spcPts val="3291"/>
              </a:lnSpc>
              <a:buFont typeface="Arial"/>
              <a:buChar char="•"/>
            </a:pPr>
            <a:r>
              <a:rPr lang="en-US" sz="2351" spc="4">
                <a:solidFill>
                  <a:srgbClr val="FFFFFF"/>
                </a:solidFill>
                <a:latin typeface="Open Sauce"/>
                <a:ea typeface="Open Sauce"/>
                <a:cs typeface="Open Sauce"/>
                <a:sym typeface="Open Sauce"/>
              </a:rPr>
              <a:t>Secure file storage system</a:t>
            </a:r>
          </a:p>
          <a:p>
            <a:pPr algn="l">
              <a:lnSpc>
                <a:spcPts val="3291"/>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5400000">
            <a:off x="-3319318" y="-4694566"/>
            <a:ext cx="8558066" cy="8573655"/>
          </a:xfrm>
          <a:custGeom>
            <a:avLst/>
            <a:gdLst/>
            <a:ahLst/>
            <a:cxnLst/>
            <a:rect r="r" b="b" t="t" l="l"/>
            <a:pathLst>
              <a:path h="8573655" w="8558066">
                <a:moveTo>
                  <a:pt x="0" y="8573655"/>
                </a:moveTo>
                <a:lnTo>
                  <a:pt x="8558066" y="8573655"/>
                </a:lnTo>
                <a:lnTo>
                  <a:pt x="8558066" y="0"/>
                </a:lnTo>
                <a:lnTo>
                  <a:pt x="0" y="0"/>
                </a:lnTo>
                <a:lnTo>
                  <a:pt x="0" y="857365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8451037" y="-3716784"/>
            <a:ext cx="16685489" cy="16685489"/>
          </a:xfrm>
          <a:custGeom>
            <a:avLst/>
            <a:gdLst/>
            <a:ahLst/>
            <a:cxnLst/>
            <a:rect r="r" b="b" t="t" l="l"/>
            <a:pathLst>
              <a:path h="16685489" w="16685489">
                <a:moveTo>
                  <a:pt x="16685489" y="16685488"/>
                </a:moveTo>
                <a:lnTo>
                  <a:pt x="0" y="16685488"/>
                </a:lnTo>
                <a:lnTo>
                  <a:pt x="0" y="0"/>
                </a:lnTo>
                <a:lnTo>
                  <a:pt x="16685489" y="0"/>
                </a:lnTo>
                <a:lnTo>
                  <a:pt x="16685489" y="1668548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78003" y="1841997"/>
            <a:ext cx="17109316" cy="4640902"/>
          </a:xfrm>
          <a:custGeom>
            <a:avLst/>
            <a:gdLst/>
            <a:ahLst/>
            <a:cxnLst/>
            <a:rect r="r" b="b" t="t" l="l"/>
            <a:pathLst>
              <a:path h="4640902" w="17109316">
                <a:moveTo>
                  <a:pt x="0" y="0"/>
                </a:moveTo>
                <a:lnTo>
                  <a:pt x="17109316" y="0"/>
                </a:lnTo>
                <a:lnTo>
                  <a:pt x="17109316" y="4640902"/>
                </a:lnTo>
                <a:lnTo>
                  <a:pt x="0" y="4640902"/>
                </a:lnTo>
                <a:lnTo>
                  <a:pt x="0" y="0"/>
                </a:lnTo>
                <a:close/>
              </a:path>
            </a:pathLst>
          </a:custGeom>
          <a:blipFill>
            <a:blip r:embed="rId6"/>
            <a:stretch>
              <a:fillRect l="0" t="0" r="0" b="0"/>
            </a:stretch>
          </a:blipFill>
        </p:spPr>
      </p:sp>
      <p:grpSp>
        <p:nvGrpSpPr>
          <p:cNvPr name="Group 5" id="5"/>
          <p:cNvGrpSpPr/>
          <p:nvPr/>
        </p:nvGrpSpPr>
        <p:grpSpPr>
          <a:xfrm rot="0">
            <a:off x="16299585" y="592189"/>
            <a:ext cx="1919429" cy="566532"/>
            <a:chOff x="0" y="0"/>
            <a:chExt cx="505529" cy="149210"/>
          </a:xfrm>
        </p:grpSpPr>
        <p:sp>
          <p:nvSpPr>
            <p:cNvPr name="Freeform 6" id="6"/>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7" id="7"/>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6617640" y="688975"/>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07</a:t>
            </a:r>
          </a:p>
        </p:txBody>
      </p:sp>
      <p:sp>
        <p:nvSpPr>
          <p:cNvPr name="TextBox 9" id="9"/>
          <p:cNvSpPr txBox="true"/>
          <p:nvPr/>
        </p:nvSpPr>
        <p:spPr>
          <a:xfrm rot="0">
            <a:off x="729269" y="475184"/>
            <a:ext cx="15443536" cy="857693"/>
          </a:xfrm>
          <a:prstGeom prst="rect">
            <a:avLst/>
          </a:prstGeom>
        </p:spPr>
        <p:txBody>
          <a:bodyPr anchor="t" rtlCol="false" tIns="0" lIns="0" bIns="0" rIns="0">
            <a:spAutoFit/>
          </a:bodyPr>
          <a:lstStyle/>
          <a:p>
            <a:pPr algn="just" marL="0" indent="0" lvl="0">
              <a:lnSpc>
                <a:spcPts val="6638"/>
              </a:lnSpc>
            </a:pPr>
            <a:r>
              <a:rPr lang="en-US" b="true" sz="6034" spc="12">
                <a:solidFill>
                  <a:srgbClr val="FFFFFF"/>
                </a:solidFill>
                <a:latin typeface="Open Sauce Bold"/>
                <a:ea typeface="Open Sauce Bold"/>
                <a:cs typeface="Open Sauce Bold"/>
                <a:sym typeface="Open Sauce Bold"/>
              </a:rPr>
              <a:t>PART 3: AUTOMATION ENHANCEMENTS</a:t>
            </a:r>
          </a:p>
        </p:txBody>
      </p:sp>
      <p:sp>
        <p:nvSpPr>
          <p:cNvPr name="TextBox 10" id="10"/>
          <p:cNvSpPr txBox="true"/>
          <p:nvPr/>
        </p:nvSpPr>
        <p:spPr>
          <a:xfrm rot="0">
            <a:off x="12313533" y="6767673"/>
            <a:ext cx="5232328" cy="2985484"/>
          </a:xfrm>
          <a:prstGeom prst="rect">
            <a:avLst/>
          </a:prstGeom>
        </p:spPr>
        <p:txBody>
          <a:bodyPr anchor="t" rtlCol="false" tIns="0" lIns="0" bIns="0" rIns="0">
            <a:spAutoFit/>
          </a:bodyPr>
          <a:lstStyle/>
          <a:p>
            <a:pPr algn="just">
              <a:lnSpc>
                <a:spcPts val="3445"/>
              </a:lnSpc>
            </a:pPr>
            <a:r>
              <a:rPr lang="en-US" b="true" sz="2461" spc="4">
                <a:solidFill>
                  <a:srgbClr val="FFFFFF"/>
                </a:solidFill>
                <a:latin typeface="Open Sauce Bold"/>
                <a:ea typeface="Open Sauce Bold"/>
                <a:cs typeface="Open Sauce Bold"/>
                <a:sym typeface="Open Sauce Bold"/>
              </a:rPr>
              <a:t>Lecturer Aut</a:t>
            </a:r>
            <a:r>
              <a:rPr lang="en-US" b="true" sz="2461" spc="4">
                <a:solidFill>
                  <a:srgbClr val="FFFFFF"/>
                </a:solidFill>
                <a:latin typeface="Open Sauce Bold"/>
                <a:ea typeface="Open Sauce Bold"/>
                <a:cs typeface="Open Sauce Bold"/>
                <a:sym typeface="Open Sauce Bold"/>
              </a:rPr>
              <a:t>omation</a:t>
            </a:r>
          </a:p>
          <a:p>
            <a:pPr algn="just" marL="531384" indent="-265692" lvl="1">
              <a:lnSpc>
                <a:spcPts val="3445"/>
              </a:lnSpc>
              <a:buFont typeface="Arial"/>
              <a:buChar char="•"/>
            </a:pPr>
            <a:r>
              <a:rPr lang="en-US" sz="2461" spc="4">
                <a:solidFill>
                  <a:srgbClr val="FFFFFF"/>
                </a:solidFill>
                <a:latin typeface="Open Sauce"/>
                <a:ea typeface="Open Sauce"/>
                <a:cs typeface="Open Sauce"/>
                <a:sym typeface="Open Sauce"/>
              </a:rPr>
              <a:t>System detects duplicate monthly submissions</a:t>
            </a:r>
          </a:p>
          <a:p>
            <a:pPr algn="just" marL="531384" indent="-265692" lvl="1">
              <a:lnSpc>
                <a:spcPts val="3445"/>
              </a:lnSpc>
              <a:buFont typeface="Arial"/>
              <a:buChar char="•"/>
            </a:pPr>
            <a:r>
              <a:rPr lang="en-US" sz="2461" spc="4">
                <a:solidFill>
                  <a:srgbClr val="FFFFFF"/>
                </a:solidFill>
                <a:latin typeface="Open Sauce"/>
                <a:ea typeface="Open Sauce"/>
                <a:cs typeface="Open Sauce"/>
                <a:sym typeface="Open Sauce"/>
              </a:rPr>
              <a:t>Advanced validation rules</a:t>
            </a:r>
          </a:p>
          <a:p>
            <a:pPr algn="just" marL="531384" indent="-265692" lvl="1">
              <a:lnSpc>
                <a:spcPts val="3445"/>
              </a:lnSpc>
              <a:buFont typeface="Arial"/>
              <a:buChar char="•"/>
            </a:pPr>
            <a:r>
              <a:rPr lang="en-US" sz="2461" spc="4">
                <a:solidFill>
                  <a:srgbClr val="FFFFFF"/>
                </a:solidFill>
                <a:latin typeface="Open Sauce"/>
                <a:ea typeface="Open Sauce"/>
                <a:cs typeface="Open Sauce"/>
                <a:sym typeface="Open Sauce"/>
              </a:rPr>
              <a:t>Real-time status tracking of submitted claim</a:t>
            </a:r>
          </a:p>
          <a:p>
            <a:pPr algn="just">
              <a:lnSpc>
                <a:spcPts val="3445"/>
              </a:lnSpc>
            </a:pPr>
          </a:p>
        </p:txBody>
      </p:sp>
      <p:sp>
        <p:nvSpPr>
          <p:cNvPr name="TextBox 11" id="11"/>
          <p:cNvSpPr txBox="true"/>
          <p:nvPr/>
        </p:nvSpPr>
        <p:spPr>
          <a:xfrm rot="0">
            <a:off x="5246542" y="6767673"/>
            <a:ext cx="6162116" cy="3414361"/>
          </a:xfrm>
          <a:prstGeom prst="rect">
            <a:avLst/>
          </a:prstGeom>
        </p:spPr>
        <p:txBody>
          <a:bodyPr anchor="t" rtlCol="false" tIns="0" lIns="0" bIns="0" rIns="0">
            <a:spAutoFit/>
          </a:bodyPr>
          <a:lstStyle/>
          <a:p>
            <a:pPr algn="l">
              <a:lnSpc>
                <a:spcPts val="3431"/>
              </a:lnSpc>
              <a:spcBef>
                <a:spcPct val="0"/>
              </a:spcBef>
            </a:pPr>
            <a:r>
              <a:rPr lang="en-US" b="true" sz="2451" spc="4">
                <a:solidFill>
                  <a:srgbClr val="FFFFFF"/>
                </a:solidFill>
                <a:latin typeface="Open Sauce Bold"/>
                <a:ea typeface="Open Sauce Bold"/>
                <a:cs typeface="Open Sauce Bold"/>
                <a:sym typeface="Open Sauce Bold"/>
              </a:rPr>
              <a:t>Coordinator Automation</a:t>
            </a:r>
          </a:p>
          <a:p>
            <a:pPr algn="l" marL="529245" indent="-264623" lvl="1">
              <a:lnSpc>
                <a:spcPts val="3431"/>
              </a:lnSpc>
              <a:buFont typeface="Arial"/>
              <a:buChar char="•"/>
            </a:pPr>
            <a:r>
              <a:rPr lang="en-US" sz="2451" spc="4">
                <a:solidFill>
                  <a:srgbClr val="FFFFFF"/>
                </a:solidFill>
                <a:latin typeface="Open Sauce"/>
                <a:ea typeface="Open Sauce"/>
                <a:cs typeface="Open Sauce"/>
                <a:sym typeface="Open Sauce"/>
              </a:rPr>
              <a:t>Autom</a:t>
            </a:r>
            <a:r>
              <a:rPr lang="en-US" sz="2451" spc="4">
                <a:solidFill>
                  <a:srgbClr val="FFFFFF"/>
                </a:solidFill>
                <a:latin typeface="Open Sauce"/>
                <a:ea typeface="Open Sauce"/>
                <a:cs typeface="Open Sauce"/>
                <a:sym typeface="Open Sauce"/>
              </a:rPr>
              <a:t>ated business rules (e.g., high hour alerts)</a:t>
            </a:r>
          </a:p>
          <a:p>
            <a:pPr algn="l" marL="529245" indent="-264623" lvl="1">
              <a:lnSpc>
                <a:spcPts val="3431"/>
              </a:lnSpc>
              <a:buFont typeface="Arial"/>
              <a:buChar char="•"/>
            </a:pPr>
            <a:r>
              <a:rPr lang="en-US" sz="2451" spc="4">
                <a:solidFill>
                  <a:srgbClr val="FFFFFF"/>
                </a:solidFill>
                <a:latin typeface="Open Sauce"/>
                <a:ea typeface="Open Sauce"/>
                <a:cs typeface="Open Sauce"/>
                <a:sym typeface="Open Sauce"/>
              </a:rPr>
              <a:t>Enforced dual approval (Coordinator + Manager)</a:t>
            </a:r>
          </a:p>
          <a:p>
            <a:pPr algn="l" marL="529245" indent="-264623" lvl="1">
              <a:lnSpc>
                <a:spcPts val="3431"/>
              </a:lnSpc>
              <a:buFont typeface="Arial"/>
              <a:buChar char="•"/>
            </a:pPr>
            <a:r>
              <a:rPr lang="en-US" sz="2451" spc="4">
                <a:solidFill>
                  <a:srgbClr val="FFFFFF"/>
                </a:solidFill>
                <a:latin typeface="Open Sauce"/>
                <a:ea typeface="Open Sauce"/>
                <a:cs typeface="Open Sauce"/>
                <a:sym typeface="Open Sauce"/>
              </a:rPr>
              <a:t>Audit trail using ReviewedOn timestamps</a:t>
            </a:r>
          </a:p>
          <a:p>
            <a:pPr algn="l">
              <a:lnSpc>
                <a:spcPts val="3431"/>
              </a:lnSpc>
            </a:pPr>
          </a:p>
        </p:txBody>
      </p:sp>
      <p:sp>
        <p:nvSpPr>
          <p:cNvPr name="TextBox 12" id="12"/>
          <p:cNvSpPr txBox="true"/>
          <p:nvPr/>
        </p:nvSpPr>
        <p:spPr>
          <a:xfrm rot="0">
            <a:off x="578003" y="6767673"/>
            <a:ext cx="3760998" cy="3414361"/>
          </a:xfrm>
          <a:prstGeom prst="rect">
            <a:avLst/>
          </a:prstGeom>
        </p:spPr>
        <p:txBody>
          <a:bodyPr anchor="t" rtlCol="false" tIns="0" lIns="0" bIns="0" rIns="0">
            <a:spAutoFit/>
          </a:bodyPr>
          <a:lstStyle/>
          <a:p>
            <a:pPr algn="l">
              <a:lnSpc>
                <a:spcPts val="3431"/>
              </a:lnSpc>
            </a:pPr>
            <a:r>
              <a:rPr lang="en-US" b="true" sz="2451" spc="4">
                <a:solidFill>
                  <a:srgbClr val="FFFFFF"/>
                </a:solidFill>
                <a:latin typeface="Open Sauce Bold"/>
                <a:ea typeface="Open Sauce Bold"/>
                <a:cs typeface="Open Sauce Bold"/>
                <a:sym typeface="Open Sauce Bold"/>
              </a:rPr>
              <a:t>HR Automati</a:t>
            </a:r>
            <a:r>
              <a:rPr lang="en-US" b="true" sz="2451" spc="4">
                <a:solidFill>
                  <a:srgbClr val="FFFFFF"/>
                </a:solidFill>
                <a:latin typeface="Open Sauce Bold"/>
                <a:ea typeface="Open Sauce Bold"/>
                <a:cs typeface="Open Sauce Bold"/>
                <a:sym typeface="Open Sauce Bold"/>
              </a:rPr>
              <a:t>on</a:t>
            </a:r>
          </a:p>
          <a:p>
            <a:pPr algn="l" marL="529245" indent="-264623" lvl="1">
              <a:lnSpc>
                <a:spcPts val="3431"/>
              </a:lnSpc>
              <a:buFont typeface="Arial"/>
              <a:buChar char="•"/>
            </a:pPr>
            <a:r>
              <a:rPr lang="en-US" sz="2451" spc="4">
                <a:solidFill>
                  <a:srgbClr val="FFFFFF"/>
                </a:solidFill>
                <a:latin typeface="Open Sauce"/>
                <a:ea typeface="Open Sauce"/>
                <a:cs typeface="Open Sauce"/>
                <a:sym typeface="Open Sauce"/>
              </a:rPr>
              <a:t>Shows only approved claims</a:t>
            </a:r>
          </a:p>
          <a:p>
            <a:pPr algn="just" marL="529245" indent="-264623" lvl="1">
              <a:lnSpc>
                <a:spcPts val="3431"/>
              </a:lnSpc>
              <a:buFont typeface="Arial"/>
              <a:buChar char="•"/>
            </a:pPr>
            <a:r>
              <a:rPr lang="en-US" sz="2451" spc="4">
                <a:solidFill>
                  <a:srgbClr val="FFFFFF"/>
                </a:solidFill>
                <a:latin typeface="Open Sauce"/>
                <a:ea typeface="Open Sauce"/>
                <a:cs typeface="Open Sauce"/>
                <a:sym typeface="Open Sauce"/>
              </a:rPr>
              <a:t>One-click export to CSV</a:t>
            </a:r>
          </a:p>
          <a:p>
            <a:pPr algn="l" marL="529245" indent="-264623" lvl="1">
              <a:lnSpc>
                <a:spcPts val="3431"/>
              </a:lnSpc>
              <a:buFont typeface="Arial"/>
              <a:buChar char="•"/>
            </a:pPr>
            <a:r>
              <a:rPr lang="en-US" sz="2451" spc="4">
                <a:solidFill>
                  <a:srgbClr val="FFFFFF"/>
                </a:solidFill>
                <a:latin typeface="Open Sauce"/>
                <a:ea typeface="Open Sauce"/>
                <a:cs typeface="Open Sauce"/>
                <a:sym typeface="Open Sauce"/>
              </a:rPr>
              <a:t>Simplified payroll processing</a:t>
            </a:r>
          </a:p>
          <a:p>
            <a:pPr algn="l">
              <a:lnSpc>
                <a:spcPts val="3431"/>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3173370">
            <a:off x="-5326105" y="4446649"/>
            <a:ext cx="11188380" cy="11188380"/>
          </a:xfrm>
          <a:custGeom>
            <a:avLst/>
            <a:gdLst/>
            <a:ahLst/>
            <a:cxnLst/>
            <a:rect r="r" b="b" t="t" l="l"/>
            <a:pathLst>
              <a:path h="11188380" w="11188380">
                <a:moveTo>
                  <a:pt x="0" y="11188380"/>
                </a:moveTo>
                <a:lnTo>
                  <a:pt x="11188380" y="11188380"/>
                </a:lnTo>
                <a:lnTo>
                  <a:pt x="11188380" y="0"/>
                </a:lnTo>
                <a:lnTo>
                  <a:pt x="0" y="0"/>
                </a:lnTo>
                <a:lnTo>
                  <a:pt x="0" y="1118838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176653">
            <a:off x="10413589" y="-5860721"/>
            <a:ext cx="13054096" cy="13077874"/>
          </a:xfrm>
          <a:custGeom>
            <a:avLst/>
            <a:gdLst/>
            <a:ahLst/>
            <a:cxnLst/>
            <a:rect r="r" b="b" t="t" l="l"/>
            <a:pathLst>
              <a:path h="13077874" w="13054096">
                <a:moveTo>
                  <a:pt x="13054096" y="0"/>
                </a:moveTo>
                <a:lnTo>
                  <a:pt x="0" y="0"/>
                </a:lnTo>
                <a:lnTo>
                  <a:pt x="0" y="13077874"/>
                </a:lnTo>
                <a:lnTo>
                  <a:pt x="13054096" y="13077874"/>
                </a:lnTo>
                <a:lnTo>
                  <a:pt x="1305409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68085" y="1913429"/>
            <a:ext cx="11275311" cy="4227648"/>
          </a:xfrm>
          <a:custGeom>
            <a:avLst/>
            <a:gdLst/>
            <a:ahLst/>
            <a:cxnLst/>
            <a:rect r="r" b="b" t="t" l="l"/>
            <a:pathLst>
              <a:path h="4227648" w="11275311">
                <a:moveTo>
                  <a:pt x="0" y="0"/>
                </a:moveTo>
                <a:lnTo>
                  <a:pt x="11275312" y="0"/>
                </a:lnTo>
                <a:lnTo>
                  <a:pt x="11275312" y="4227648"/>
                </a:lnTo>
                <a:lnTo>
                  <a:pt x="0" y="4227648"/>
                </a:lnTo>
                <a:lnTo>
                  <a:pt x="0" y="0"/>
                </a:lnTo>
                <a:close/>
              </a:path>
            </a:pathLst>
          </a:custGeom>
          <a:blipFill>
            <a:blip r:embed="rId6"/>
            <a:stretch>
              <a:fillRect l="0" t="-3340" r="0" b="-3340"/>
            </a:stretch>
          </a:blipFill>
        </p:spPr>
      </p:sp>
      <p:sp>
        <p:nvSpPr>
          <p:cNvPr name="Freeform 5" id="5"/>
          <p:cNvSpPr/>
          <p:nvPr/>
        </p:nvSpPr>
        <p:spPr>
          <a:xfrm flipH="false" flipV="false" rot="0">
            <a:off x="268085" y="6226587"/>
            <a:ext cx="11275311" cy="3777229"/>
          </a:xfrm>
          <a:custGeom>
            <a:avLst/>
            <a:gdLst/>
            <a:ahLst/>
            <a:cxnLst/>
            <a:rect r="r" b="b" t="t" l="l"/>
            <a:pathLst>
              <a:path h="3777229" w="11275311">
                <a:moveTo>
                  <a:pt x="0" y="0"/>
                </a:moveTo>
                <a:lnTo>
                  <a:pt x="11275312" y="0"/>
                </a:lnTo>
                <a:lnTo>
                  <a:pt x="11275312" y="3777230"/>
                </a:lnTo>
                <a:lnTo>
                  <a:pt x="0" y="3777230"/>
                </a:lnTo>
                <a:lnTo>
                  <a:pt x="0" y="0"/>
                </a:lnTo>
                <a:close/>
              </a:path>
            </a:pathLst>
          </a:custGeom>
          <a:blipFill>
            <a:blip r:embed="rId7"/>
            <a:stretch>
              <a:fillRect l="0" t="0" r="0" b="0"/>
            </a:stretch>
          </a:blipFill>
        </p:spPr>
      </p:sp>
      <p:grpSp>
        <p:nvGrpSpPr>
          <p:cNvPr name="Group 6" id="6"/>
          <p:cNvGrpSpPr/>
          <p:nvPr/>
        </p:nvGrpSpPr>
        <p:grpSpPr>
          <a:xfrm rot="0">
            <a:off x="15356645" y="366021"/>
            <a:ext cx="1919429" cy="566532"/>
            <a:chOff x="0" y="0"/>
            <a:chExt cx="2559239" cy="755376"/>
          </a:xfrm>
        </p:grpSpPr>
        <p:grpSp>
          <p:nvGrpSpPr>
            <p:cNvPr name="Group 7" id="7"/>
            <p:cNvGrpSpPr/>
            <p:nvPr/>
          </p:nvGrpSpPr>
          <p:grpSpPr>
            <a:xfrm rot="0">
              <a:off x="0" y="0"/>
              <a:ext cx="2559239" cy="755376"/>
              <a:chOff x="0" y="0"/>
              <a:chExt cx="505529" cy="149210"/>
            </a:xfrm>
          </p:grpSpPr>
          <p:sp>
            <p:nvSpPr>
              <p:cNvPr name="Freeform 8" id="8"/>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9" id="9"/>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332093" y="128343"/>
              <a:ext cx="1895054" cy="440267"/>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08</a:t>
              </a:r>
            </a:p>
          </p:txBody>
        </p:sp>
      </p:grpSp>
      <p:sp>
        <p:nvSpPr>
          <p:cNvPr name="TextBox 11" id="11"/>
          <p:cNvSpPr txBox="true"/>
          <p:nvPr/>
        </p:nvSpPr>
        <p:spPr>
          <a:xfrm rot="0">
            <a:off x="11718603" y="3107773"/>
            <a:ext cx="6269987" cy="1800860"/>
          </a:xfrm>
          <a:prstGeom prst="rect">
            <a:avLst/>
          </a:prstGeom>
        </p:spPr>
        <p:txBody>
          <a:bodyPr anchor="t" rtlCol="false" tIns="0" lIns="0" bIns="0" rIns="0">
            <a:spAutoFit/>
          </a:bodyPr>
          <a:lstStyle/>
          <a:p>
            <a:pPr algn="just">
              <a:lnSpc>
                <a:spcPts val="3640"/>
              </a:lnSpc>
            </a:pPr>
            <a:r>
              <a:rPr lang="en-US" b="true" sz="2600" spc="5" u="sng">
                <a:solidFill>
                  <a:srgbClr val="FFFFFF"/>
                </a:solidFill>
                <a:latin typeface="Open Sauce Bold"/>
                <a:ea typeface="Open Sauce Bold"/>
                <a:cs typeface="Open Sauce Bold"/>
                <a:sym typeface="Open Sauce Bold"/>
              </a:rPr>
              <a:t>Coordinator Dashboard</a:t>
            </a:r>
          </a:p>
          <a:p>
            <a:pPr algn="l" marL="561341" indent="-280670" lvl="1">
              <a:lnSpc>
                <a:spcPts val="3640"/>
              </a:lnSpc>
              <a:buFont typeface="Arial"/>
              <a:buChar char="•"/>
            </a:pPr>
            <a:r>
              <a:rPr lang="en-US" sz="2600" spc="5">
                <a:solidFill>
                  <a:srgbClr val="FFFFFF"/>
                </a:solidFill>
                <a:latin typeface="Open Sauce"/>
                <a:ea typeface="Open Sauce"/>
                <a:cs typeface="Open Sauce"/>
                <a:sym typeface="Open Sauce"/>
              </a:rPr>
              <a:t>Reviews newly submitted claims</a:t>
            </a:r>
          </a:p>
          <a:p>
            <a:pPr algn="l" marL="561341" indent="-280670" lvl="1">
              <a:lnSpc>
                <a:spcPts val="3640"/>
              </a:lnSpc>
              <a:buFont typeface="Arial"/>
              <a:buChar char="•"/>
            </a:pPr>
            <a:r>
              <a:rPr lang="en-US" sz="2600" spc="5">
                <a:solidFill>
                  <a:srgbClr val="FFFFFF"/>
                </a:solidFill>
                <a:latin typeface="Open Sauce"/>
                <a:ea typeface="Open Sauce"/>
                <a:cs typeface="Open Sauce"/>
                <a:sym typeface="Open Sauce"/>
              </a:rPr>
              <a:t>Approves/Rejects first</a:t>
            </a:r>
          </a:p>
          <a:p>
            <a:pPr algn="just">
              <a:lnSpc>
                <a:spcPts val="3640"/>
              </a:lnSpc>
              <a:spcBef>
                <a:spcPct val="0"/>
              </a:spcBef>
            </a:pPr>
          </a:p>
        </p:txBody>
      </p:sp>
      <p:sp>
        <p:nvSpPr>
          <p:cNvPr name="TextBox 12" id="12"/>
          <p:cNvSpPr txBox="true"/>
          <p:nvPr/>
        </p:nvSpPr>
        <p:spPr>
          <a:xfrm rot="0">
            <a:off x="3030543" y="336904"/>
            <a:ext cx="11823054" cy="720725"/>
          </a:xfrm>
          <a:prstGeom prst="rect">
            <a:avLst/>
          </a:prstGeom>
        </p:spPr>
        <p:txBody>
          <a:bodyPr anchor="t" rtlCol="false" tIns="0" lIns="0" bIns="0" rIns="0">
            <a:spAutoFit/>
          </a:bodyPr>
          <a:lstStyle/>
          <a:p>
            <a:pPr algn="just" marL="0" indent="0" lvl="0">
              <a:lnSpc>
                <a:spcPts val="5500"/>
              </a:lnSpc>
            </a:pPr>
            <a:r>
              <a:rPr lang="en-US" b="true" sz="5000" spc="10">
                <a:solidFill>
                  <a:srgbClr val="FFFFFF"/>
                </a:solidFill>
                <a:latin typeface="Open Sauce Bold"/>
                <a:ea typeface="Open Sauce Bold"/>
                <a:cs typeface="Open Sauce Bold"/>
                <a:sym typeface="Open Sauce Bold"/>
              </a:rPr>
              <a:t>COORDINATOR &amp; MANAGER VIEWS</a:t>
            </a:r>
          </a:p>
        </p:txBody>
      </p:sp>
      <p:sp>
        <p:nvSpPr>
          <p:cNvPr name="TextBox 13" id="13"/>
          <p:cNvSpPr txBox="true"/>
          <p:nvPr/>
        </p:nvSpPr>
        <p:spPr>
          <a:xfrm rot="0">
            <a:off x="11718603" y="6957597"/>
            <a:ext cx="6569397" cy="2267586"/>
          </a:xfrm>
          <a:prstGeom prst="rect">
            <a:avLst/>
          </a:prstGeom>
        </p:spPr>
        <p:txBody>
          <a:bodyPr anchor="t" rtlCol="false" tIns="0" lIns="0" bIns="0" rIns="0">
            <a:spAutoFit/>
          </a:bodyPr>
          <a:lstStyle/>
          <a:p>
            <a:pPr algn="l">
              <a:lnSpc>
                <a:spcPts val="3639"/>
              </a:lnSpc>
            </a:pPr>
            <a:r>
              <a:rPr lang="en-US" b="true" sz="2599" spc="5" u="sng">
                <a:solidFill>
                  <a:srgbClr val="FFFFFF"/>
                </a:solidFill>
                <a:latin typeface="Open Sauce Bold"/>
                <a:ea typeface="Open Sauce Bold"/>
                <a:cs typeface="Open Sauce Bold"/>
                <a:sym typeface="Open Sauce Bold"/>
              </a:rPr>
              <a:t>Manager Dashboard</a:t>
            </a:r>
          </a:p>
          <a:p>
            <a:pPr algn="l" marL="561336" indent="-280668" lvl="1">
              <a:lnSpc>
                <a:spcPts val="3639"/>
              </a:lnSpc>
              <a:buFont typeface="Arial"/>
              <a:buChar char="•"/>
            </a:pPr>
            <a:r>
              <a:rPr lang="en-US" sz="2599" spc="5">
                <a:solidFill>
                  <a:srgbClr val="FFFFFF"/>
                </a:solidFill>
                <a:latin typeface="Open Sauce"/>
                <a:ea typeface="Open Sauce"/>
                <a:cs typeface="Open Sauce"/>
                <a:sym typeface="Open Sauce"/>
              </a:rPr>
              <a:t>Only sees claims approved by Coordinator</a:t>
            </a:r>
          </a:p>
          <a:p>
            <a:pPr algn="l" marL="561336" indent="-280668" lvl="1">
              <a:lnSpc>
                <a:spcPts val="3639"/>
              </a:lnSpc>
              <a:buFont typeface="Arial"/>
              <a:buChar char="•"/>
            </a:pPr>
            <a:r>
              <a:rPr lang="en-US" sz="2599" spc="5">
                <a:solidFill>
                  <a:srgbClr val="FFFFFF"/>
                </a:solidFill>
                <a:latin typeface="Open Sauce"/>
                <a:ea typeface="Open Sauce"/>
                <a:cs typeface="Open Sauce"/>
                <a:sym typeface="Open Sauce"/>
              </a:rPr>
              <a:t>Performs second approval</a:t>
            </a:r>
          </a:p>
          <a:p>
            <a:pPr algn="l">
              <a:lnSpc>
                <a:spcPts val="3639"/>
              </a:lnSpc>
              <a:spcBef>
                <a:spcPct val="0"/>
              </a:spcBef>
            </a:pPr>
          </a:p>
        </p:txBody>
      </p:sp>
      <p:sp>
        <p:nvSpPr>
          <p:cNvPr name="TextBox 14" id="14"/>
          <p:cNvSpPr txBox="true"/>
          <p:nvPr/>
        </p:nvSpPr>
        <p:spPr>
          <a:xfrm rot="0">
            <a:off x="83302" y="1455764"/>
            <a:ext cx="9258111" cy="371939"/>
          </a:xfrm>
          <a:prstGeom prst="rect">
            <a:avLst/>
          </a:prstGeom>
        </p:spPr>
        <p:txBody>
          <a:bodyPr anchor="t" rtlCol="false" tIns="0" lIns="0" bIns="0" rIns="0">
            <a:spAutoFit/>
          </a:bodyPr>
          <a:lstStyle/>
          <a:p>
            <a:pPr algn="ctr">
              <a:lnSpc>
                <a:spcPts val="3124"/>
              </a:lnSpc>
              <a:spcBef>
                <a:spcPct val="0"/>
              </a:spcBef>
            </a:pPr>
            <a:r>
              <a:rPr lang="en-US" b="true" sz="2231" spc="4">
                <a:solidFill>
                  <a:srgbClr val="FFFFFF"/>
                </a:solidFill>
                <a:latin typeface="Open Sauce Bold"/>
                <a:ea typeface="Open Sauce Bold"/>
                <a:cs typeface="Open Sauce Bold"/>
                <a:sym typeface="Open Sauce Bold"/>
              </a:rPr>
              <a:t>WORKFLOW: </a:t>
            </a:r>
            <a:r>
              <a:rPr lang="en-US" sz="2231" spc="4">
                <a:solidFill>
                  <a:srgbClr val="FFFFFF"/>
                </a:solidFill>
                <a:latin typeface="Open Sauce"/>
                <a:ea typeface="Open Sauce"/>
                <a:cs typeface="Open Sauce"/>
                <a:sym typeface="Open Sauce"/>
              </a:rPr>
              <a:t>LECTURER → COORDINATOR → MANAGER → HR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481179" y="576468"/>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true" rot="-5400000">
            <a:off x="-4077278" y="-2770260"/>
            <a:ext cx="8558066" cy="8573655"/>
          </a:xfrm>
          <a:custGeom>
            <a:avLst/>
            <a:gdLst/>
            <a:ahLst/>
            <a:cxnLst/>
            <a:rect r="r" b="b" t="t" l="l"/>
            <a:pathLst>
              <a:path h="8573655" w="8558066">
                <a:moveTo>
                  <a:pt x="0" y="8573654"/>
                </a:moveTo>
                <a:lnTo>
                  <a:pt x="8558066" y="8573654"/>
                </a:lnTo>
                <a:lnTo>
                  <a:pt x="8558066" y="0"/>
                </a:lnTo>
                <a:lnTo>
                  <a:pt x="0" y="0"/>
                </a:lnTo>
                <a:lnTo>
                  <a:pt x="0" y="857365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3690340" y="-974419"/>
            <a:ext cx="13540038" cy="13540038"/>
          </a:xfrm>
          <a:custGeom>
            <a:avLst/>
            <a:gdLst/>
            <a:ahLst/>
            <a:cxnLst/>
            <a:rect r="r" b="b" t="t" l="l"/>
            <a:pathLst>
              <a:path h="13540038" w="13540038">
                <a:moveTo>
                  <a:pt x="13540038" y="13540038"/>
                </a:moveTo>
                <a:lnTo>
                  <a:pt x="0" y="13540038"/>
                </a:lnTo>
                <a:lnTo>
                  <a:pt x="0" y="0"/>
                </a:lnTo>
                <a:lnTo>
                  <a:pt x="13540038" y="0"/>
                </a:lnTo>
                <a:lnTo>
                  <a:pt x="13540038" y="1354003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378915" y="1964067"/>
            <a:ext cx="11301259" cy="4252099"/>
          </a:xfrm>
          <a:custGeom>
            <a:avLst/>
            <a:gdLst/>
            <a:ahLst/>
            <a:cxnLst/>
            <a:rect r="r" b="b" t="t" l="l"/>
            <a:pathLst>
              <a:path h="4252099" w="11301259">
                <a:moveTo>
                  <a:pt x="0" y="0"/>
                </a:moveTo>
                <a:lnTo>
                  <a:pt x="11301259" y="0"/>
                </a:lnTo>
                <a:lnTo>
                  <a:pt x="11301259" y="4252099"/>
                </a:lnTo>
                <a:lnTo>
                  <a:pt x="0" y="4252099"/>
                </a:lnTo>
                <a:lnTo>
                  <a:pt x="0" y="0"/>
                </a:lnTo>
                <a:close/>
              </a:path>
            </a:pathLst>
          </a:custGeom>
          <a:blipFill>
            <a:blip r:embed="rId6"/>
            <a:stretch>
              <a:fillRect l="0" t="0" r="0" b="0"/>
            </a:stretch>
          </a:blipFill>
        </p:spPr>
      </p:sp>
      <p:sp>
        <p:nvSpPr>
          <p:cNvPr name="Freeform 8" id="8"/>
          <p:cNvSpPr/>
          <p:nvPr/>
        </p:nvSpPr>
        <p:spPr>
          <a:xfrm flipH="false" flipV="false" rot="0">
            <a:off x="6378915" y="6941086"/>
            <a:ext cx="11301259" cy="2754682"/>
          </a:xfrm>
          <a:custGeom>
            <a:avLst/>
            <a:gdLst/>
            <a:ahLst/>
            <a:cxnLst/>
            <a:rect r="r" b="b" t="t" l="l"/>
            <a:pathLst>
              <a:path h="2754682" w="11301259">
                <a:moveTo>
                  <a:pt x="0" y="0"/>
                </a:moveTo>
                <a:lnTo>
                  <a:pt x="11301259" y="0"/>
                </a:lnTo>
                <a:lnTo>
                  <a:pt x="11301259" y="2754682"/>
                </a:lnTo>
                <a:lnTo>
                  <a:pt x="0" y="2754682"/>
                </a:lnTo>
                <a:lnTo>
                  <a:pt x="0" y="0"/>
                </a:lnTo>
                <a:close/>
              </a:path>
            </a:pathLst>
          </a:custGeom>
          <a:blipFill>
            <a:blip r:embed="rId7"/>
            <a:stretch>
              <a:fillRect l="0" t="0" r="0" b="0"/>
            </a:stretch>
          </a:blipFill>
        </p:spPr>
      </p:sp>
      <p:sp>
        <p:nvSpPr>
          <p:cNvPr name="TextBox 9" id="9"/>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09</a:t>
            </a:r>
          </a:p>
        </p:txBody>
      </p:sp>
      <p:sp>
        <p:nvSpPr>
          <p:cNvPr name="TextBox 10" id="10"/>
          <p:cNvSpPr txBox="true"/>
          <p:nvPr/>
        </p:nvSpPr>
        <p:spPr>
          <a:xfrm rot="0">
            <a:off x="2354745" y="518421"/>
            <a:ext cx="12696230" cy="720725"/>
          </a:xfrm>
          <a:prstGeom prst="rect">
            <a:avLst/>
          </a:prstGeom>
        </p:spPr>
        <p:txBody>
          <a:bodyPr anchor="t" rtlCol="false" tIns="0" lIns="0" bIns="0" rIns="0">
            <a:spAutoFit/>
          </a:bodyPr>
          <a:lstStyle/>
          <a:p>
            <a:pPr algn="just" marL="0" indent="0" lvl="0">
              <a:lnSpc>
                <a:spcPts val="5500"/>
              </a:lnSpc>
            </a:pPr>
            <a:r>
              <a:rPr lang="en-US" b="true" sz="5000" spc="10">
                <a:solidFill>
                  <a:srgbClr val="FFFFFF"/>
                </a:solidFill>
                <a:latin typeface="Open Sauce Bold"/>
                <a:ea typeface="Open Sauce Bold"/>
                <a:cs typeface="Open Sauce Bold"/>
                <a:sym typeface="Open Sauce Bold"/>
              </a:rPr>
              <a:t>LECTURER CLAIM TRACKING FEATURE</a:t>
            </a:r>
          </a:p>
        </p:txBody>
      </p:sp>
      <p:sp>
        <p:nvSpPr>
          <p:cNvPr name="TextBox 11" id="11"/>
          <p:cNvSpPr txBox="true"/>
          <p:nvPr/>
        </p:nvSpPr>
        <p:spPr>
          <a:xfrm rot="0">
            <a:off x="603198" y="1904320"/>
            <a:ext cx="5350215" cy="7744460"/>
          </a:xfrm>
          <a:prstGeom prst="rect">
            <a:avLst/>
          </a:prstGeom>
        </p:spPr>
        <p:txBody>
          <a:bodyPr anchor="t" rtlCol="false" tIns="0" lIns="0" bIns="0" rIns="0">
            <a:spAutoFit/>
          </a:bodyPr>
          <a:lstStyle/>
          <a:p>
            <a:pPr algn="just">
              <a:lnSpc>
                <a:spcPts val="3640"/>
              </a:lnSpc>
            </a:pPr>
            <a:r>
              <a:rPr lang="en-US" b="true" sz="2600" spc="5">
                <a:solidFill>
                  <a:srgbClr val="FFFFFF"/>
                </a:solidFill>
                <a:latin typeface="Open Sauce Bold"/>
                <a:ea typeface="Open Sauce Bold"/>
                <a:cs typeface="Open Sauce Bold"/>
                <a:sym typeface="Open Sauce Bold"/>
              </a:rPr>
              <a:t>A dedicated tracking page now shows:</a:t>
            </a:r>
          </a:p>
          <a:p>
            <a:pPr algn="just" marL="561341" indent="-280670" lvl="1">
              <a:lnSpc>
                <a:spcPts val="3640"/>
              </a:lnSpc>
              <a:buFont typeface="Arial"/>
              <a:buChar char="•"/>
            </a:pPr>
            <a:r>
              <a:rPr lang="en-US" sz="2600" spc="5">
                <a:solidFill>
                  <a:srgbClr val="FFFFFF"/>
                </a:solidFill>
                <a:latin typeface="Open Sauce"/>
                <a:ea typeface="Open Sauce"/>
                <a:cs typeface="Open Sauce"/>
                <a:sym typeface="Open Sauce"/>
              </a:rPr>
              <a:t>All claims submitted by the lecturer</a:t>
            </a:r>
          </a:p>
          <a:p>
            <a:pPr algn="just" marL="561341" indent="-280670" lvl="1">
              <a:lnSpc>
                <a:spcPts val="3640"/>
              </a:lnSpc>
              <a:buFont typeface="Arial"/>
              <a:buChar char="•"/>
            </a:pPr>
            <a:r>
              <a:rPr lang="en-US" sz="2600" spc="5">
                <a:solidFill>
                  <a:srgbClr val="FFFFFF"/>
                </a:solidFill>
                <a:latin typeface="Open Sauce"/>
                <a:ea typeface="Open Sauce"/>
                <a:cs typeface="Open Sauce"/>
                <a:sym typeface="Open Sauce"/>
              </a:rPr>
              <a:t>Status colour indicators:</a:t>
            </a:r>
          </a:p>
          <a:p>
            <a:pPr algn="just" marL="1122681" indent="-374227" lvl="2">
              <a:lnSpc>
                <a:spcPts val="3640"/>
              </a:lnSpc>
              <a:buFont typeface="Arial"/>
              <a:buChar char="⚬"/>
            </a:pPr>
            <a:r>
              <a:rPr lang="en-US" sz="2600" spc="5">
                <a:solidFill>
                  <a:srgbClr val="CC4E00"/>
                </a:solidFill>
                <a:latin typeface="Open Sauce"/>
                <a:ea typeface="Open Sauce"/>
                <a:cs typeface="Open Sauce"/>
                <a:sym typeface="Open Sauce"/>
              </a:rPr>
              <a:t>Pending (orange)</a:t>
            </a:r>
          </a:p>
          <a:p>
            <a:pPr algn="just" marL="1122681" indent="-374227" lvl="2">
              <a:lnSpc>
                <a:spcPts val="3640"/>
              </a:lnSpc>
              <a:buFont typeface="Arial"/>
              <a:buChar char="⚬"/>
            </a:pPr>
            <a:r>
              <a:rPr lang="en-US" sz="2600" spc="5">
                <a:solidFill>
                  <a:srgbClr val="457A00"/>
                </a:solidFill>
                <a:latin typeface="Open Sauce"/>
                <a:ea typeface="Open Sauce"/>
                <a:cs typeface="Open Sauce"/>
                <a:sym typeface="Open Sauce"/>
              </a:rPr>
              <a:t>Approved (green)</a:t>
            </a:r>
          </a:p>
          <a:p>
            <a:pPr algn="just" marL="1122681" indent="-374227" lvl="2">
              <a:lnSpc>
                <a:spcPts val="3640"/>
              </a:lnSpc>
              <a:buFont typeface="Arial"/>
              <a:buChar char="⚬"/>
            </a:pPr>
            <a:r>
              <a:rPr lang="en-US" sz="2600" spc="5">
                <a:solidFill>
                  <a:srgbClr val="FC0000"/>
                </a:solidFill>
                <a:latin typeface="Open Sauce"/>
                <a:ea typeface="Open Sauce"/>
                <a:cs typeface="Open Sauce"/>
                <a:sym typeface="Open Sauce"/>
              </a:rPr>
              <a:t>Rejected (red)</a:t>
            </a:r>
          </a:p>
          <a:p>
            <a:pPr algn="just">
              <a:lnSpc>
                <a:spcPts val="3640"/>
              </a:lnSpc>
            </a:pPr>
          </a:p>
          <a:p>
            <a:pPr algn="just">
              <a:lnSpc>
                <a:spcPts val="3640"/>
              </a:lnSpc>
            </a:pPr>
            <a:r>
              <a:rPr lang="en-US" b="true" sz="2600" spc="5">
                <a:solidFill>
                  <a:srgbClr val="FFFFFF"/>
                </a:solidFill>
                <a:latin typeface="Open Sauce Bold"/>
                <a:ea typeface="Open Sauce Bold"/>
                <a:cs typeface="Open Sauce Bold"/>
                <a:sym typeface="Open Sauce Bold"/>
              </a:rPr>
              <a:t>Additional details:</a:t>
            </a:r>
          </a:p>
          <a:p>
            <a:pPr algn="just" marL="561341" indent="-280670" lvl="1">
              <a:lnSpc>
                <a:spcPts val="3640"/>
              </a:lnSpc>
              <a:buFont typeface="Arial"/>
              <a:buChar char="•"/>
            </a:pPr>
            <a:r>
              <a:rPr lang="en-US" sz="2600" spc="5">
                <a:solidFill>
                  <a:srgbClr val="FFFFFF"/>
                </a:solidFill>
                <a:latin typeface="Open Sauce"/>
                <a:ea typeface="Open Sauce"/>
                <a:cs typeface="Open Sauce"/>
                <a:sym typeface="Open Sauce"/>
              </a:rPr>
              <a:t>Total amount</a:t>
            </a:r>
          </a:p>
          <a:p>
            <a:pPr algn="just" marL="561341" indent="-280670" lvl="1">
              <a:lnSpc>
                <a:spcPts val="3640"/>
              </a:lnSpc>
              <a:buFont typeface="Arial"/>
              <a:buChar char="•"/>
            </a:pPr>
            <a:r>
              <a:rPr lang="en-US" sz="2600" spc="5">
                <a:solidFill>
                  <a:srgbClr val="FFFFFF"/>
                </a:solidFill>
                <a:latin typeface="Open Sauce"/>
                <a:ea typeface="Open Sauce"/>
                <a:cs typeface="Open Sauce"/>
                <a:sym typeface="Open Sauce"/>
              </a:rPr>
              <a:t>Submitted date</a:t>
            </a:r>
          </a:p>
          <a:p>
            <a:pPr algn="just" marL="561341" indent="-280670" lvl="1">
              <a:lnSpc>
                <a:spcPts val="3640"/>
              </a:lnSpc>
              <a:buFont typeface="Arial"/>
              <a:buChar char="•"/>
            </a:pPr>
            <a:r>
              <a:rPr lang="en-US" sz="2600" spc="5">
                <a:solidFill>
                  <a:srgbClr val="FFFFFF"/>
                </a:solidFill>
                <a:latin typeface="Open Sauce"/>
                <a:ea typeface="Open Sauce"/>
                <a:cs typeface="Open Sauce"/>
                <a:sym typeface="Open Sauce"/>
              </a:rPr>
              <a:t>Document availability</a:t>
            </a:r>
          </a:p>
          <a:p>
            <a:pPr algn="just">
              <a:lnSpc>
                <a:spcPts val="3640"/>
              </a:lnSpc>
              <a:spcBef>
                <a:spcPct val="0"/>
              </a:spcBef>
            </a:pPr>
            <a:r>
              <a:rPr lang="en-US" sz="2600" spc="5">
                <a:solidFill>
                  <a:srgbClr val="FFFFFF"/>
                </a:solidFill>
                <a:latin typeface="Open Sauce"/>
                <a:ea typeface="Open Sauce"/>
                <a:cs typeface="Open Sauce"/>
                <a:sym typeface="Open Sauce"/>
              </a:rPr>
              <a:t>This meets the feedback requirement that lecturers must track claim status.</a:t>
            </a:r>
          </a:p>
          <a:p>
            <a:pPr algn="just">
              <a:lnSpc>
                <a:spcPts val="364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722329" y="-4286827"/>
            <a:ext cx="8558066" cy="8573655"/>
          </a:xfrm>
          <a:custGeom>
            <a:avLst/>
            <a:gdLst/>
            <a:ahLst/>
            <a:cxnLst/>
            <a:rect r="r" b="b" t="t" l="l"/>
            <a:pathLst>
              <a:path h="8573655" w="8558066">
                <a:moveTo>
                  <a:pt x="0" y="0"/>
                </a:moveTo>
                <a:lnTo>
                  <a:pt x="8558066" y="0"/>
                </a:lnTo>
                <a:lnTo>
                  <a:pt x="8558066" y="8573654"/>
                </a:lnTo>
                <a:lnTo>
                  <a:pt x="0" y="85736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81179" y="576468"/>
            <a:ext cx="1919429" cy="566532"/>
            <a:chOff x="0" y="0"/>
            <a:chExt cx="505529" cy="149210"/>
          </a:xfrm>
        </p:grpSpPr>
        <p:sp>
          <p:nvSpPr>
            <p:cNvPr name="Freeform 4" id="4"/>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5" id="5"/>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09</a:t>
            </a:r>
          </a:p>
        </p:txBody>
      </p:sp>
      <p:sp>
        <p:nvSpPr>
          <p:cNvPr name="TextBox 7" id="7"/>
          <p:cNvSpPr txBox="true"/>
          <p:nvPr/>
        </p:nvSpPr>
        <p:spPr>
          <a:xfrm rot="0">
            <a:off x="409549" y="5537321"/>
            <a:ext cx="11805450" cy="4544060"/>
          </a:xfrm>
          <a:prstGeom prst="rect">
            <a:avLst/>
          </a:prstGeom>
        </p:spPr>
        <p:txBody>
          <a:bodyPr anchor="t" rtlCol="false" tIns="0" lIns="0" bIns="0" rIns="0">
            <a:spAutoFit/>
          </a:bodyPr>
          <a:lstStyle/>
          <a:p>
            <a:pPr algn="l">
              <a:lnSpc>
                <a:spcPts val="3640"/>
              </a:lnSpc>
            </a:pPr>
            <a:r>
              <a:rPr lang="en-US" sz="2600" spc="5">
                <a:solidFill>
                  <a:srgbClr val="FFFFFF"/>
                </a:solidFill>
                <a:latin typeface="Open Sauce"/>
                <a:ea typeface="Open Sauce"/>
                <a:cs typeface="Open Sauce"/>
                <a:sym typeface="Open Sauce"/>
              </a:rPr>
              <a:t> </a:t>
            </a:r>
            <a:r>
              <a:rPr lang="en-US" sz="2600" spc="5" b="true">
                <a:solidFill>
                  <a:srgbClr val="FFFFFF"/>
                </a:solidFill>
                <a:latin typeface="Open Sauce Bold"/>
                <a:ea typeface="Open Sauce Bold"/>
                <a:cs typeface="Open Sauce Bold"/>
                <a:sym typeface="Open Sauce Bold"/>
              </a:rPr>
              <a:t>Approved Claims Only</a:t>
            </a:r>
          </a:p>
          <a:p>
            <a:pPr algn="l" marL="561341" indent="-280670" lvl="1">
              <a:lnSpc>
                <a:spcPts val="3640"/>
              </a:lnSpc>
              <a:buFont typeface="Arial"/>
              <a:buChar char="•"/>
            </a:pPr>
            <a:r>
              <a:rPr lang="en-US" sz="2600" spc="5">
                <a:solidFill>
                  <a:srgbClr val="FFFFFF"/>
                </a:solidFill>
                <a:latin typeface="Open Sauce"/>
                <a:ea typeface="Open Sauce"/>
                <a:cs typeface="Open Sauce"/>
                <a:sym typeface="Open Sauce"/>
              </a:rPr>
              <a:t>Filters claims where both Coordinator &amp; Manager have approved</a:t>
            </a:r>
          </a:p>
          <a:p>
            <a:pPr algn="l">
              <a:lnSpc>
                <a:spcPts val="3640"/>
              </a:lnSpc>
            </a:pPr>
          </a:p>
          <a:p>
            <a:pPr algn="l">
              <a:lnSpc>
                <a:spcPts val="3640"/>
              </a:lnSpc>
            </a:pPr>
            <a:r>
              <a:rPr lang="en-US" sz="2600" spc="5" b="true">
                <a:solidFill>
                  <a:srgbClr val="FFFFFF"/>
                </a:solidFill>
                <a:latin typeface="Open Sauce Bold"/>
                <a:ea typeface="Open Sauce Bold"/>
                <a:cs typeface="Open Sauce Bold"/>
                <a:sym typeface="Open Sauce Bold"/>
              </a:rPr>
              <a:t>Downloadable Report</a:t>
            </a:r>
          </a:p>
          <a:p>
            <a:pPr algn="l" marL="561341" indent="-280670" lvl="1">
              <a:lnSpc>
                <a:spcPts val="3640"/>
              </a:lnSpc>
              <a:buFont typeface="Arial"/>
              <a:buChar char="•"/>
            </a:pPr>
            <a:r>
              <a:rPr lang="en-US" sz="2600" spc="5">
                <a:solidFill>
                  <a:srgbClr val="FFFFFF"/>
                </a:solidFill>
                <a:latin typeface="Open Sauce"/>
                <a:ea typeface="Open Sauce"/>
                <a:cs typeface="Open Sauce"/>
                <a:sym typeface="Open Sauce"/>
              </a:rPr>
              <a:t>CSV export for payroll systems</a:t>
            </a:r>
          </a:p>
          <a:p>
            <a:pPr algn="l" marL="561341" indent="-280670" lvl="1">
              <a:lnSpc>
                <a:spcPts val="3640"/>
              </a:lnSpc>
              <a:buFont typeface="Arial"/>
              <a:buChar char="•"/>
            </a:pPr>
            <a:r>
              <a:rPr lang="en-US" sz="2600" spc="5">
                <a:solidFill>
                  <a:srgbClr val="FFFFFF"/>
                </a:solidFill>
                <a:latin typeface="Open Sauce"/>
                <a:ea typeface="Open Sauce"/>
                <a:cs typeface="Open Sauce"/>
                <a:sym typeface="Open Sauce"/>
              </a:rPr>
              <a:t>Columns: Lecturer Name, Hours, Rate, Total Amount</a:t>
            </a:r>
          </a:p>
          <a:p>
            <a:pPr algn="l">
              <a:lnSpc>
                <a:spcPts val="3640"/>
              </a:lnSpc>
            </a:pPr>
          </a:p>
          <a:p>
            <a:pPr algn="l">
              <a:lnSpc>
                <a:spcPts val="3640"/>
              </a:lnSpc>
            </a:pPr>
            <a:r>
              <a:rPr lang="en-US" sz="2600" spc="5" b="true">
                <a:solidFill>
                  <a:srgbClr val="FFFFFF"/>
                </a:solidFill>
                <a:latin typeface="Open Sauce Bold"/>
                <a:ea typeface="Open Sauce Bold"/>
                <a:cs typeface="Open Sauce Bold"/>
                <a:sym typeface="Open Sauce Bold"/>
              </a:rPr>
              <a:t> Improved Data Handling</a:t>
            </a:r>
          </a:p>
          <a:p>
            <a:pPr algn="l" marL="561341" indent="-280670" lvl="1">
              <a:lnSpc>
                <a:spcPts val="3640"/>
              </a:lnSpc>
              <a:buFont typeface="Arial"/>
              <a:buChar char="•"/>
            </a:pPr>
            <a:r>
              <a:rPr lang="en-US" sz="2600" spc="5">
                <a:solidFill>
                  <a:srgbClr val="FFFFFF"/>
                </a:solidFill>
                <a:latin typeface="Open Sauce"/>
                <a:ea typeface="Open Sauce"/>
                <a:cs typeface="Open Sauce"/>
                <a:sym typeface="Open Sauce"/>
              </a:rPr>
              <a:t>Ensures HR sees clean, validated, verified claims only</a:t>
            </a:r>
          </a:p>
          <a:p>
            <a:pPr algn="l">
              <a:lnSpc>
                <a:spcPts val="3640"/>
              </a:lnSpc>
              <a:spcBef>
                <a:spcPct val="0"/>
              </a:spcBef>
            </a:pPr>
          </a:p>
        </p:txBody>
      </p:sp>
      <p:sp>
        <p:nvSpPr>
          <p:cNvPr name="TextBox 8" id="8"/>
          <p:cNvSpPr txBox="true"/>
          <p:nvPr/>
        </p:nvSpPr>
        <p:spPr>
          <a:xfrm rot="0">
            <a:off x="5148663" y="422275"/>
            <a:ext cx="7990674" cy="720725"/>
          </a:xfrm>
          <a:prstGeom prst="rect">
            <a:avLst/>
          </a:prstGeom>
        </p:spPr>
        <p:txBody>
          <a:bodyPr anchor="t" rtlCol="false" tIns="0" lIns="0" bIns="0" rIns="0">
            <a:spAutoFit/>
          </a:bodyPr>
          <a:lstStyle/>
          <a:p>
            <a:pPr algn="just" marL="0" indent="0" lvl="0">
              <a:lnSpc>
                <a:spcPts val="5500"/>
              </a:lnSpc>
            </a:pPr>
            <a:r>
              <a:rPr lang="en-US" b="true" sz="5000" spc="10">
                <a:solidFill>
                  <a:srgbClr val="FFFFFF"/>
                </a:solidFill>
                <a:latin typeface="Open Sauce Bold"/>
                <a:ea typeface="Open Sauce Bold"/>
                <a:cs typeface="Open Sauce Bold"/>
                <a:sym typeface="Open Sauce Bold"/>
              </a:rPr>
              <a:t>HR VIEW (AUTOMATION)</a:t>
            </a:r>
          </a:p>
        </p:txBody>
      </p:sp>
      <p:sp>
        <p:nvSpPr>
          <p:cNvPr name="Freeform 9" id="9"/>
          <p:cNvSpPr/>
          <p:nvPr/>
        </p:nvSpPr>
        <p:spPr>
          <a:xfrm flipH="true" flipV="false" rot="-5400000">
            <a:off x="10669677" y="2824528"/>
            <a:ext cx="15236646" cy="15264399"/>
          </a:xfrm>
          <a:custGeom>
            <a:avLst/>
            <a:gdLst/>
            <a:ahLst/>
            <a:cxnLst/>
            <a:rect r="r" b="b" t="t" l="l"/>
            <a:pathLst>
              <a:path h="15264399" w="15236646">
                <a:moveTo>
                  <a:pt x="15236646" y="0"/>
                </a:moveTo>
                <a:lnTo>
                  <a:pt x="0" y="0"/>
                </a:lnTo>
                <a:lnTo>
                  <a:pt x="0" y="15264399"/>
                </a:lnTo>
                <a:lnTo>
                  <a:pt x="15236646" y="15264399"/>
                </a:lnTo>
                <a:lnTo>
                  <a:pt x="152366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409549" y="1467074"/>
            <a:ext cx="17587897" cy="3784497"/>
          </a:xfrm>
          <a:custGeom>
            <a:avLst/>
            <a:gdLst/>
            <a:ahLst/>
            <a:cxnLst/>
            <a:rect r="r" b="b" t="t" l="l"/>
            <a:pathLst>
              <a:path h="3784497" w="17587897">
                <a:moveTo>
                  <a:pt x="0" y="0"/>
                </a:moveTo>
                <a:lnTo>
                  <a:pt x="17587897" y="0"/>
                </a:lnTo>
                <a:lnTo>
                  <a:pt x="17587897" y="3784497"/>
                </a:lnTo>
                <a:lnTo>
                  <a:pt x="0" y="3784497"/>
                </a:lnTo>
                <a:lnTo>
                  <a:pt x="0" y="0"/>
                </a:lnTo>
                <a:close/>
              </a:path>
            </a:pathLst>
          </a:custGeom>
          <a:blipFill>
            <a:blip r:embed="rId4"/>
            <a:stretch>
              <a:fillRect l="0" t="0" r="0" b="-5146"/>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481179" y="576468"/>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8273181" y="-6214083"/>
            <a:ext cx="17756717" cy="17789061"/>
          </a:xfrm>
          <a:custGeom>
            <a:avLst/>
            <a:gdLst/>
            <a:ahLst/>
            <a:cxnLst/>
            <a:rect r="r" b="b" t="t" l="l"/>
            <a:pathLst>
              <a:path h="17789061" w="17756717">
                <a:moveTo>
                  <a:pt x="0" y="0"/>
                </a:moveTo>
                <a:lnTo>
                  <a:pt x="17756717" y="0"/>
                </a:lnTo>
                <a:lnTo>
                  <a:pt x="17756717" y="17789061"/>
                </a:lnTo>
                <a:lnTo>
                  <a:pt x="0" y="177890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884008" y="2680447"/>
            <a:ext cx="6932330" cy="5608048"/>
          </a:xfrm>
          <a:custGeom>
            <a:avLst/>
            <a:gdLst/>
            <a:ahLst/>
            <a:cxnLst/>
            <a:rect r="r" b="b" t="t" l="l"/>
            <a:pathLst>
              <a:path h="5608048" w="6932330">
                <a:moveTo>
                  <a:pt x="0" y="0"/>
                </a:moveTo>
                <a:lnTo>
                  <a:pt x="6932329" y="0"/>
                </a:lnTo>
                <a:lnTo>
                  <a:pt x="6932329" y="5608048"/>
                </a:lnTo>
                <a:lnTo>
                  <a:pt x="0" y="56080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10</a:t>
            </a:r>
          </a:p>
        </p:txBody>
      </p:sp>
      <p:sp>
        <p:nvSpPr>
          <p:cNvPr name="TextBox 8" id="8"/>
          <p:cNvSpPr txBox="true"/>
          <p:nvPr/>
        </p:nvSpPr>
        <p:spPr>
          <a:xfrm rot="0">
            <a:off x="1529291" y="1505637"/>
            <a:ext cx="10202279" cy="3462656"/>
          </a:xfrm>
          <a:prstGeom prst="rect">
            <a:avLst/>
          </a:prstGeom>
        </p:spPr>
        <p:txBody>
          <a:bodyPr anchor="t" rtlCol="false" tIns="0" lIns="0" bIns="0" rIns="0">
            <a:spAutoFit/>
          </a:bodyPr>
          <a:lstStyle/>
          <a:p>
            <a:pPr algn="just">
              <a:lnSpc>
                <a:spcPts val="3919"/>
              </a:lnSpc>
            </a:pPr>
            <a:r>
              <a:rPr lang="en-US" b="true" sz="2799" spc="5">
                <a:solidFill>
                  <a:srgbClr val="FFFFFF"/>
                </a:solidFill>
                <a:latin typeface="Open Sauce Bold"/>
                <a:ea typeface="Open Sauce Bold"/>
                <a:cs typeface="Open Sauce Bold"/>
                <a:sym typeface="Open Sauce Bold"/>
              </a:rPr>
              <a:t>Lecturer Validation</a:t>
            </a:r>
          </a:p>
          <a:p>
            <a:pPr algn="just" marL="604515" indent="-302257" lvl="1">
              <a:lnSpc>
                <a:spcPts val="3919"/>
              </a:lnSpc>
              <a:buFont typeface="Arial"/>
              <a:buChar char="•"/>
            </a:pPr>
            <a:r>
              <a:rPr lang="en-US" sz="2799" spc="5">
                <a:solidFill>
                  <a:srgbClr val="FFFFFF"/>
                </a:solidFill>
                <a:latin typeface="Open Sauce"/>
                <a:ea typeface="Open Sauce"/>
                <a:cs typeface="Open Sauce"/>
                <a:sym typeface="Open Sauce"/>
              </a:rPr>
              <a:t>Prevents month duplication</a:t>
            </a:r>
          </a:p>
          <a:p>
            <a:pPr algn="just" marL="604515" indent="-302257" lvl="1">
              <a:lnSpc>
                <a:spcPts val="3919"/>
              </a:lnSpc>
              <a:buFont typeface="Arial"/>
              <a:buChar char="•"/>
            </a:pPr>
            <a:r>
              <a:rPr lang="en-US" sz="2799" spc="5">
                <a:solidFill>
                  <a:srgbClr val="FFFFFF"/>
                </a:solidFill>
                <a:latin typeface="Open Sauce"/>
                <a:ea typeface="Open Sauce"/>
                <a:cs typeface="Open Sauce"/>
                <a:sym typeface="Open Sauce"/>
              </a:rPr>
              <a:t>E</a:t>
            </a:r>
            <a:r>
              <a:rPr lang="en-US" sz="2799" spc="5">
                <a:solidFill>
                  <a:srgbClr val="FFFFFF"/>
                </a:solidFill>
                <a:latin typeface="Open Sauce"/>
                <a:ea typeface="Open Sauce"/>
                <a:cs typeface="Open Sauce"/>
                <a:sym typeface="Open Sauce"/>
              </a:rPr>
              <a:t>n</a:t>
            </a:r>
            <a:r>
              <a:rPr lang="en-US" sz="2799" spc="5">
                <a:solidFill>
                  <a:srgbClr val="FFFFFF"/>
                </a:solidFill>
                <a:latin typeface="Open Sauce"/>
                <a:ea typeface="Open Sauce"/>
                <a:cs typeface="Open Sauce"/>
                <a:sym typeface="Open Sauce"/>
              </a:rPr>
              <a:t>su</a:t>
            </a:r>
            <a:r>
              <a:rPr lang="en-US" sz="2799" spc="5">
                <a:solidFill>
                  <a:srgbClr val="FFFFFF"/>
                </a:solidFill>
                <a:latin typeface="Open Sauce"/>
                <a:ea typeface="Open Sauce"/>
                <a:cs typeface="Open Sauce"/>
                <a:sym typeface="Open Sauce"/>
              </a:rPr>
              <a:t>r</a:t>
            </a:r>
            <a:r>
              <a:rPr lang="en-US" sz="2799" spc="5">
                <a:solidFill>
                  <a:srgbClr val="FFFFFF"/>
                </a:solidFill>
                <a:latin typeface="Open Sauce"/>
                <a:ea typeface="Open Sauce"/>
                <a:cs typeface="Open Sauce"/>
                <a:sym typeface="Open Sauce"/>
              </a:rPr>
              <a:t>es HoursWorked &gt; 0</a:t>
            </a:r>
          </a:p>
          <a:p>
            <a:pPr algn="just" marL="604515" indent="-302257" lvl="1">
              <a:lnSpc>
                <a:spcPts val="3919"/>
              </a:lnSpc>
              <a:buFont typeface="Arial"/>
              <a:buChar char="•"/>
            </a:pPr>
            <a:r>
              <a:rPr lang="en-US" sz="2799" spc="5">
                <a:solidFill>
                  <a:srgbClr val="FFFFFF"/>
                </a:solidFill>
                <a:latin typeface="Open Sauce"/>
                <a:ea typeface="Open Sauce"/>
                <a:cs typeface="Open Sauce"/>
                <a:sym typeface="Open Sauce"/>
              </a:rPr>
              <a:t>HourlyRate &gt; 0</a:t>
            </a:r>
          </a:p>
          <a:p>
            <a:pPr algn="just" marL="604515" indent="-302257" lvl="1">
              <a:lnSpc>
                <a:spcPts val="3919"/>
              </a:lnSpc>
              <a:buFont typeface="Arial"/>
              <a:buChar char="•"/>
            </a:pPr>
            <a:r>
              <a:rPr lang="en-US" sz="2799" spc="5">
                <a:solidFill>
                  <a:srgbClr val="FFFFFF"/>
                </a:solidFill>
                <a:latin typeface="Open Sauce"/>
                <a:ea typeface="Open Sauce"/>
                <a:cs typeface="Open Sauce"/>
                <a:sym typeface="Open Sauce"/>
              </a:rPr>
              <a:t>Notes limit</a:t>
            </a:r>
            <a:r>
              <a:rPr lang="en-US" sz="2799" spc="5">
                <a:solidFill>
                  <a:srgbClr val="FFFFFF"/>
                </a:solidFill>
                <a:latin typeface="Open Sauce"/>
                <a:ea typeface="Open Sauce"/>
                <a:cs typeface="Open Sauce"/>
                <a:sym typeface="Open Sauce"/>
              </a:rPr>
              <a:t>ed </a:t>
            </a:r>
            <a:r>
              <a:rPr lang="en-US" sz="2799" spc="5">
                <a:solidFill>
                  <a:srgbClr val="FFFFFF"/>
                </a:solidFill>
                <a:latin typeface="Open Sauce"/>
                <a:ea typeface="Open Sauce"/>
                <a:cs typeface="Open Sauce"/>
                <a:sym typeface="Open Sauce"/>
              </a:rPr>
              <a:t>to </a:t>
            </a:r>
            <a:r>
              <a:rPr lang="en-US" sz="2799" spc="5">
                <a:solidFill>
                  <a:srgbClr val="FFFFFF"/>
                </a:solidFill>
                <a:latin typeface="Open Sauce"/>
                <a:ea typeface="Open Sauce"/>
                <a:cs typeface="Open Sauce"/>
                <a:sym typeface="Open Sauce"/>
              </a:rPr>
              <a:t>a</a:t>
            </a:r>
            <a:r>
              <a:rPr lang="en-US" sz="2799" spc="5">
                <a:solidFill>
                  <a:srgbClr val="FFFFFF"/>
                </a:solidFill>
                <a:latin typeface="Open Sauce"/>
                <a:ea typeface="Open Sauce"/>
                <a:cs typeface="Open Sauce"/>
                <a:sym typeface="Open Sauce"/>
              </a:rPr>
              <a:t>ccep</a:t>
            </a:r>
            <a:r>
              <a:rPr lang="en-US" sz="2799" spc="5">
                <a:solidFill>
                  <a:srgbClr val="FFFFFF"/>
                </a:solidFill>
                <a:latin typeface="Open Sauce"/>
                <a:ea typeface="Open Sauce"/>
                <a:cs typeface="Open Sauce"/>
                <a:sym typeface="Open Sauce"/>
              </a:rPr>
              <a:t>ta</a:t>
            </a:r>
            <a:r>
              <a:rPr lang="en-US" sz="2799" spc="5">
                <a:solidFill>
                  <a:srgbClr val="FFFFFF"/>
                </a:solidFill>
                <a:latin typeface="Open Sauce"/>
                <a:ea typeface="Open Sauce"/>
                <a:cs typeface="Open Sauce"/>
                <a:sym typeface="Open Sauce"/>
              </a:rPr>
              <a:t>ble</a:t>
            </a:r>
            <a:r>
              <a:rPr lang="en-US" sz="2799" spc="5">
                <a:solidFill>
                  <a:srgbClr val="FFFFFF"/>
                </a:solidFill>
                <a:latin typeface="Open Sauce"/>
                <a:ea typeface="Open Sauce"/>
                <a:cs typeface="Open Sauce"/>
                <a:sym typeface="Open Sauce"/>
              </a:rPr>
              <a:t> l</a:t>
            </a:r>
            <a:r>
              <a:rPr lang="en-US" sz="2799" spc="5">
                <a:solidFill>
                  <a:srgbClr val="FFFFFF"/>
                </a:solidFill>
                <a:latin typeface="Open Sauce"/>
                <a:ea typeface="Open Sauce"/>
                <a:cs typeface="Open Sauce"/>
                <a:sym typeface="Open Sauce"/>
              </a:rPr>
              <a:t>e</a:t>
            </a:r>
            <a:r>
              <a:rPr lang="en-US" sz="2799" spc="5">
                <a:solidFill>
                  <a:srgbClr val="FFFFFF"/>
                </a:solidFill>
                <a:latin typeface="Open Sauce"/>
                <a:ea typeface="Open Sauce"/>
                <a:cs typeface="Open Sauce"/>
                <a:sym typeface="Open Sauce"/>
              </a:rPr>
              <a:t>ng</a:t>
            </a:r>
            <a:r>
              <a:rPr lang="en-US" sz="2799" spc="5">
                <a:solidFill>
                  <a:srgbClr val="FFFFFF"/>
                </a:solidFill>
                <a:latin typeface="Open Sauce"/>
                <a:ea typeface="Open Sauce"/>
                <a:cs typeface="Open Sauce"/>
                <a:sym typeface="Open Sauce"/>
              </a:rPr>
              <a:t>th</a:t>
            </a:r>
          </a:p>
          <a:p>
            <a:pPr algn="just" marL="604515" indent="-302257" lvl="1">
              <a:lnSpc>
                <a:spcPts val="3919"/>
              </a:lnSpc>
              <a:buFont typeface="Arial"/>
              <a:buChar char="•"/>
            </a:pPr>
            <a:r>
              <a:rPr lang="en-US" sz="2799" spc="5">
                <a:solidFill>
                  <a:srgbClr val="FFFFFF"/>
                </a:solidFill>
                <a:latin typeface="Open Sauce"/>
                <a:ea typeface="Open Sauce"/>
                <a:cs typeface="Open Sauce"/>
                <a:sym typeface="Open Sauce"/>
              </a:rPr>
              <a:t>File type restrictions (.pdf, .docx, .xlsx)</a:t>
            </a:r>
          </a:p>
          <a:p>
            <a:pPr algn="just">
              <a:lnSpc>
                <a:spcPts val="3919"/>
              </a:lnSpc>
              <a:spcBef>
                <a:spcPct val="0"/>
              </a:spcBef>
            </a:pPr>
          </a:p>
        </p:txBody>
      </p:sp>
      <p:sp>
        <p:nvSpPr>
          <p:cNvPr name="TextBox 9" id="9"/>
          <p:cNvSpPr txBox="true"/>
          <p:nvPr/>
        </p:nvSpPr>
        <p:spPr>
          <a:xfrm rot="0">
            <a:off x="3809582" y="518421"/>
            <a:ext cx="10668836" cy="720725"/>
          </a:xfrm>
          <a:prstGeom prst="rect">
            <a:avLst/>
          </a:prstGeom>
        </p:spPr>
        <p:txBody>
          <a:bodyPr anchor="t" rtlCol="false" tIns="0" lIns="0" bIns="0" rIns="0">
            <a:spAutoFit/>
          </a:bodyPr>
          <a:lstStyle/>
          <a:p>
            <a:pPr algn="just" marL="0" indent="0" lvl="0">
              <a:lnSpc>
                <a:spcPts val="5500"/>
              </a:lnSpc>
            </a:pPr>
            <a:r>
              <a:rPr lang="en-US" b="true" sz="5000" spc="10">
                <a:solidFill>
                  <a:srgbClr val="FFFFFF"/>
                </a:solidFill>
                <a:latin typeface="Open Sauce Bold"/>
                <a:ea typeface="Open Sauce Bold"/>
                <a:cs typeface="Open Sauce Bold"/>
                <a:sym typeface="Open Sauce Bold"/>
              </a:rPr>
              <a:t>VALIDATION &amp; ERROR HANDLING</a:t>
            </a:r>
          </a:p>
        </p:txBody>
      </p:sp>
      <p:sp>
        <p:nvSpPr>
          <p:cNvPr name="TextBox 10" id="10"/>
          <p:cNvSpPr txBox="true"/>
          <p:nvPr/>
        </p:nvSpPr>
        <p:spPr>
          <a:xfrm rot="0">
            <a:off x="1529291" y="7326048"/>
            <a:ext cx="7640311" cy="2472056"/>
          </a:xfrm>
          <a:prstGeom prst="rect">
            <a:avLst/>
          </a:prstGeom>
        </p:spPr>
        <p:txBody>
          <a:bodyPr anchor="t" rtlCol="false" tIns="0" lIns="0" bIns="0" rIns="0">
            <a:spAutoFit/>
          </a:bodyPr>
          <a:lstStyle/>
          <a:p>
            <a:pPr algn="l">
              <a:lnSpc>
                <a:spcPts val="3919"/>
              </a:lnSpc>
            </a:pPr>
            <a:r>
              <a:rPr lang="en-US" sz="2799" spc="5" b="true">
                <a:solidFill>
                  <a:srgbClr val="FFFFFF"/>
                </a:solidFill>
                <a:latin typeface="Open Sauce Bold"/>
                <a:ea typeface="Open Sauce Bold"/>
                <a:cs typeface="Open Sauce Bold"/>
                <a:sym typeface="Open Sauce Bold"/>
              </a:rPr>
              <a:t>Server-side Error Handling</a:t>
            </a:r>
          </a:p>
          <a:p>
            <a:pPr algn="l" marL="604515" indent="-302257" lvl="1">
              <a:lnSpc>
                <a:spcPts val="3919"/>
              </a:lnSpc>
              <a:buFont typeface="Arial"/>
              <a:buChar char="•"/>
            </a:pPr>
            <a:r>
              <a:rPr lang="en-US" sz="2799" spc="5">
                <a:solidFill>
                  <a:srgbClr val="FFFFFF"/>
                </a:solidFill>
                <a:latin typeface="Open Sauce"/>
                <a:ea typeface="Open Sauce"/>
                <a:cs typeface="Open Sauce"/>
                <a:sym typeface="Open Sauce"/>
              </a:rPr>
              <a:t>T</a:t>
            </a:r>
            <a:r>
              <a:rPr lang="en-US" sz="2799" spc="5">
                <a:solidFill>
                  <a:srgbClr val="FFFFFF"/>
                </a:solidFill>
                <a:latin typeface="Open Sauce"/>
                <a:ea typeface="Open Sauce"/>
                <a:cs typeface="Open Sauce"/>
                <a:sym typeface="Open Sauce"/>
              </a:rPr>
              <a:t>ry/catch blocks</a:t>
            </a:r>
          </a:p>
          <a:p>
            <a:pPr algn="l" marL="604515" indent="-302257" lvl="1">
              <a:lnSpc>
                <a:spcPts val="3919"/>
              </a:lnSpc>
              <a:buFont typeface="Arial"/>
              <a:buChar char="•"/>
            </a:pPr>
            <a:r>
              <a:rPr lang="en-US" sz="2799" spc="5">
                <a:solidFill>
                  <a:srgbClr val="FFFFFF"/>
                </a:solidFill>
                <a:latin typeface="Open Sauce"/>
                <a:ea typeface="Open Sauce"/>
                <a:cs typeface="Open Sauce"/>
                <a:sym typeface="Open Sauce"/>
              </a:rPr>
              <a:t>Fri</a:t>
            </a:r>
            <a:r>
              <a:rPr lang="en-US" sz="2799" spc="5">
                <a:solidFill>
                  <a:srgbClr val="FFFFFF"/>
                </a:solidFill>
                <a:latin typeface="Open Sauce"/>
                <a:ea typeface="Open Sauce"/>
                <a:cs typeface="Open Sauce"/>
                <a:sym typeface="Open Sauce"/>
              </a:rPr>
              <a:t>endly, r</a:t>
            </a:r>
            <a:r>
              <a:rPr lang="en-US" sz="2799" spc="5">
                <a:solidFill>
                  <a:srgbClr val="FFFFFF"/>
                </a:solidFill>
                <a:latin typeface="Open Sauce"/>
                <a:ea typeface="Open Sauce"/>
                <a:cs typeface="Open Sauce"/>
                <a:sym typeface="Open Sauce"/>
              </a:rPr>
              <a:t>ead</a:t>
            </a:r>
            <a:r>
              <a:rPr lang="en-US" sz="2799" spc="5">
                <a:solidFill>
                  <a:srgbClr val="FFFFFF"/>
                </a:solidFill>
                <a:latin typeface="Open Sauce"/>
                <a:ea typeface="Open Sauce"/>
                <a:cs typeface="Open Sauce"/>
                <a:sym typeface="Open Sauce"/>
              </a:rPr>
              <a:t>a</a:t>
            </a:r>
            <a:r>
              <a:rPr lang="en-US" sz="2799" spc="5">
                <a:solidFill>
                  <a:srgbClr val="FFFFFF"/>
                </a:solidFill>
                <a:latin typeface="Open Sauce"/>
                <a:ea typeface="Open Sauce"/>
                <a:cs typeface="Open Sauce"/>
                <a:sym typeface="Open Sauce"/>
              </a:rPr>
              <a:t>ble</a:t>
            </a:r>
            <a:r>
              <a:rPr lang="en-US" sz="2799" spc="5">
                <a:solidFill>
                  <a:srgbClr val="FFFFFF"/>
                </a:solidFill>
                <a:latin typeface="Open Sauce"/>
                <a:ea typeface="Open Sauce"/>
                <a:cs typeface="Open Sauce"/>
                <a:sym typeface="Open Sauce"/>
              </a:rPr>
              <a:t> </a:t>
            </a:r>
            <a:r>
              <a:rPr lang="en-US" sz="2799" spc="5">
                <a:solidFill>
                  <a:srgbClr val="FFFFFF"/>
                </a:solidFill>
                <a:latin typeface="Open Sauce"/>
                <a:ea typeface="Open Sauce"/>
                <a:cs typeface="Open Sauce"/>
                <a:sym typeface="Open Sauce"/>
              </a:rPr>
              <a:t>error messages</a:t>
            </a:r>
          </a:p>
          <a:p>
            <a:pPr algn="l" marL="604515" indent="-302257" lvl="1">
              <a:lnSpc>
                <a:spcPts val="3919"/>
              </a:lnSpc>
              <a:buFont typeface="Arial"/>
              <a:buChar char="•"/>
            </a:pPr>
            <a:r>
              <a:rPr lang="en-US" sz="2799" spc="5">
                <a:solidFill>
                  <a:srgbClr val="FFFFFF"/>
                </a:solidFill>
                <a:latin typeface="Open Sauce"/>
                <a:ea typeface="Open Sauce"/>
                <a:cs typeface="Open Sauce"/>
                <a:sym typeface="Open Sauce"/>
              </a:rPr>
              <a:t>Logs for debugging</a:t>
            </a:r>
          </a:p>
          <a:p>
            <a:pPr algn="l">
              <a:lnSpc>
                <a:spcPts val="3919"/>
              </a:lnSpc>
              <a:spcBef>
                <a:spcPct val="0"/>
              </a:spcBef>
            </a:pPr>
          </a:p>
        </p:txBody>
      </p:sp>
      <p:sp>
        <p:nvSpPr>
          <p:cNvPr name="TextBox 11" id="11"/>
          <p:cNvSpPr txBox="true"/>
          <p:nvPr/>
        </p:nvSpPr>
        <p:spPr>
          <a:xfrm rot="0">
            <a:off x="1529291" y="5168318"/>
            <a:ext cx="7971781" cy="1967230"/>
          </a:xfrm>
          <a:prstGeom prst="rect">
            <a:avLst/>
          </a:prstGeom>
        </p:spPr>
        <p:txBody>
          <a:bodyPr anchor="t" rtlCol="false" tIns="0" lIns="0" bIns="0" rIns="0">
            <a:spAutoFit/>
          </a:bodyPr>
          <a:lstStyle/>
          <a:p>
            <a:pPr algn="l">
              <a:lnSpc>
                <a:spcPts val="3920"/>
              </a:lnSpc>
            </a:pPr>
            <a:r>
              <a:rPr lang="en-US" sz="2800" spc="5" b="true">
                <a:solidFill>
                  <a:srgbClr val="FFFFFF"/>
                </a:solidFill>
                <a:latin typeface="Open Sauce Bold"/>
                <a:ea typeface="Open Sauce Bold"/>
                <a:cs typeface="Open Sauce Bold"/>
                <a:sym typeface="Open Sauce Bold"/>
              </a:rPr>
              <a:t>Security</a:t>
            </a:r>
          </a:p>
          <a:p>
            <a:pPr algn="l" marL="604521" indent="-302261" lvl="1">
              <a:lnSpc>
                <a:spcPts val="3920"/>
              </a:lnSpc>
              <a:buFont typeface="Arial"/>
              <a:buChar char="•"/>
            </a:pPr>
            <a:r>
              <a:rPr lang="en-US" sz="2800" spc="5">
                <a:solidFill>
                  <a:srgbClr val="FFFFFF"/>
                </a:solidFill>
                <a:latin typeface="Open Sauce"/>
                <a:ea typeface="Open Sauce"/>
                <a:cs typeface="Open Sauce"/>
                <a:sym typeface="Open Sauce"/>
              </a:rPr>
              <a:t>Safe f</a:t>
            </a:r>
            <a:r>
              <a:rPr lang="en-US" sz="2800" spc="5">
                <a:solidFill>
                  <a:srgbClr val="FFFFFF"/>
                </a:solidFill>
                <a:latin typeface="Open Sauce"/>
                <a:ea typeface="Open Sauce"/>
                <a:cs typeface="Open Sauce"/>
                <a:sym typeface="Open Sauce"/>
              </a:rPr>
              <a:t>ile uploads</a:t>
            </a:r>
          </a:p>
          <a:p>
            <a:pPr algn="l" marL="604521" indent="-302261" lvl="1">
              <a:lnSpc>
                <a:spcPts val="3920"/>
              </a:lnSpc>
              <a:buFont typeface="Arial"/>
              <a:buChar char="•"/>
            </a:pPr>
            <a:r>
              <a:rPr lang="en-US" sz="2800" spc="5">
                <a:solidFill>
                  <a:srgbClr val="FFFFFF"/>
                </a:solidFill>
                <a:latin typeface="Open Sauce"/>
                <a:ea typeface="Open Sauce"/>
                <a:cs typeface="Open Sauce"/>
                <a:sym typeface="Open Sauce"/>
              </a:rPr>
              <a:t>Vali</a:t>
            </a:r>
            <a:r>
              <a:rPr lang="en-US" sz="2800" spc="5">
                <a:solidFill>
                  <a:srgbClr val="FFFFFF"/>
                </a:solidFill>
                <a:latin typeface="Open Sauce"/>
                <a:ea typeface="Open Sauce"/>
                <a:cs typeface="Open Sauce"/>
                <a:sym typeface="Open Sauce"/>
              </a:rPr>
              <a:t>d</a:t>
            </a:r>
            <a:r>
              <a:rPr lang="en-US" sz="2800" spc="5">
                <a:solidFill>
                  <a:srgbClr val="FFFFFF"/>
                </a:solidFill>
                <a:latin typeface="Open Sauce"/>
                <a:ea typeface="Open Sauce"/>
                <a:cs typeface="Open Sauce"/>
                <a:sym typeface="Open Sauce"/>
              </a:rPr>
              <a:t>ation</a:t>
            </a:r>
            <a:r>
              <a:rPr lang="en-US" sz="2800" spc="5">
                <a:solidFill>
                  <a:srgbClr val="FFFFFF"/>
                </a:solidFill>
                <a:latin typeface="Open Sauce"/>
                <a:ea typeface="Open Sauce"/>
                <a:cs typeface="Open Sauce"/>
                <a:sym typeface="Open Sauce"/>
              </a:rPr>
              <a:t> f</a:t>
            </a:r>
            <a:r>
              <a:rPr lang="en-US" sz="2800" spc="5">
                <a:solidFill>
                  <a:srgbClr val="FFFFFF"/>
                </a:solidFill>
                <a:latin typeface="Open Sauce"/>
                <a:ea typeface="Open Sauce"/>
                <a:cs typeface="Open Sauce"/>
                <a:sym typeface="Open Sauce"/>
              </a:rPr>
              <a:t>or SQL-safe input</a:t>
            </a:r>
          </a:p>
          <a:p>
            <a:pPr algn="l">
              <a:lnSpc>
                <a:spcPts val="392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1067343" y="-8406330"/>
            <a:ext cx="12836033" cy="12859414"/>
          </a:xfrm>
          <a:custGeom>
            <a:avLst/>
            <a:gdLst/>
            <a:ahLst/>
            <a:cxnLst/>
            <a:rect r="r" b="b" t="t" l="l"/>
            <a:pathLst>
              <a:path h="12859414" w="12836033">
                <a:moveTo>
                  <a:pt x="0" y="0"/>
                </a:moveTo>
                <a:lnTo>
                  <a:pt x="12836033" y="0"/>
                </a:lnTo>
                <a:lnTo>
                  <a:pt x="12836033" y="12859414"/>
                </a:lnTo>
                <a:lnTo>
                  <a:pt x="0" y="128594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81179" y="576468"/>
            <a:ext cx="1919429" cy="566532"/>
            <a:chOff x="0" y="0"/>
            <a:chExt cx="505529" cy="149210"/>
          </a:xfrm>
        </p:grpSpPr>
        <p:sp>
          <p:nvSpPr>
            <p:cNvPr name="Freeform 4" id="4"/>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5" id="5"/>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351481" y="1851299"/>
            <a:ext cx="13585039" cy="4107890"/>
          </a:xfrm>
          <a:prstGeom prst="rect">
            <a:avLst/>
          </a:prstGeom>
        </p:spPr>
        <p:txBody>
          <a:bodyPr anchor="t" rtlCol="false" tIns="0" lIns="0" bIns="0" rIns="0">
            <a:spAutoFit/>
          </a:bodyPr>
          <a:lstStyle/>
          <a:p>
            <a:pPr algn="l">
              <a:lnSpc>
                <a:spcPts val="4055"/>
              </a:lnSpc>
            </a:pPr>
            <a:r>
              <a:rPr lang="en-US" sz="2897" spc="5" b="true">
                <a:solidFill>
                  <a:srgbClr val="FFFFFF"/>
                </a:solidFill>
                <a:latin typeface="Open Sauce Bold"/>
                <a:ea typeface="Open Sauce Bold"/>
                <a:cs typeface="Open Sauce Bold"/>
                <a:sym typeface="Open Sauce Bold"/>
              </a:rPr>
              <a:t>The development of the CMCS system provided hands-on experience in:</a:t>
            </a:r>
          </a:p>
          <a:p>
            <a:pPr algn="l" marL="625469" indent="-312735" lvl="1">
              <a:lnSpc>
                <a:spcPts val="4055"/>
              </a:lnSpc>
              <a:buFont typeface="Arial"/>
              <a:buChar char="•"/>
            </a:pPr>
            <a:r>
              <a:rPr lang="en-US" sz="2897" spc="5">
                <a:solidFill>
                  <a:srgbClr val="FFFFFF"/>
                </a:solidFill>
                <a:latin typeface="Open Sauce"/>
                <a:ea typeface="Open Sauce"/>
                <a:cs typeface="Open Sauce"/>
                <a:sym typeface="Open Sauce"/>
              </a:rPr>
              <a:t>MVC architecture</a:t>
            </a:r>
          </a:p>
          <a:p>
            <a:pPr algn="l" marL="625469" indent="-312735" lvl="1">
              <a:lnSpc>
                <a:spcPts val="4055"/>
              </a:lnSpc>
              <a:buFont typeface="Arial"/>
              <a:buChar char="•"/>
            </a:pPr>
            <a:r>
              <a:rPr lang="en-US" sz="2897" spc="5">
                <a:solidFill>
                  <a:srgbClr val="FFFFFF"/>
                </a:solidFill>
                <a:latin typeface="Open Sauce"/>
                <a:ea typeface="Open Sauce"/>
                <a:cs typeface="Open Sauce"/>
                <a:sym typeface="Open Sauce"/>
              </a:rPr>
              <a:t>SQL Server integration</a:t>
            </a:r>
          </a:p>
          <a:p>
            <a:pPr algn="l" marL="625469" indent="-312735" lvl="1">
              <a:lnSpc>
                <a:spcPts val="4055"/>
              </a:lnSpc>
              <a:buFont typeface="Arial"/>
              <a:buChar char="•"/>
            </a:pPr>
            <a:r>
              <a:rPr lang="en-US" sz="2897" spc="5">
                <a:solidFill>
                  <a:srgbClr val="FFFFFF"/>
                </a:solidFill>
                <a:latin typeface="Open Sauce"/>
                <a:ea typeface="Open Sauce"/>
                <a:cs typeface="Open Sauce"/>
                <a:sym typeface="Open Sauce"/>
              </a:rPr>
              <a:t>Entity</a:t>
            </a:r>
            <a:r>
              <a:rPr lang="en-US" sz="2897" spc="5">
                <a:solidFill>
                  <a:srgbClr val="FFFFFF"/>
                </a:solidFill>
                <a:latin typeface="Open Sauce"/>
                <a:ea typeface="Open Sauce"/>
                <a:cs typeface="Open Sauce"/>
                <a:sym typeface="Open Sauce"/>
              </a:rPr>
              <a:t> </a:t>
            </a:r>
            <a:r>
              <a:rPr lang="en-US" sz="2897" spc="5">
                <a:solidFill>
                  <a:srgbClr val="FFFFFF"/>
                </a:solidFill>
                <a:latin typeface="Open Sauce"/>
                <a:ea typeface="Open Sauce"/>
                <a:cs typeface="Open Sauce"/>
                <a:sym typeface="Open Sauce"/>
              </a:rPr>
              <a:t>Fra</a:t>
            </a:r>
            <a:r>
              <a:rPr lang="en-US" sz="2897" spc="5">
                <a:solidFill>
                  <a:srgbClr val="FFFFFF"/>
                </a:solidFill>
                <a:latin typeface="Open Sauce"/>
                <a:ea typeface="Open Sauce"/>
                <a:cs typeface="Open Sauce"/>
                <a:sym typeface="Open Sauce"/>
              </a:rPr>
              <a:t>m</a:t>
            </a:r>
            <a:r>
              <a:rPr lang="en-US" sz="2897" spc="5">
                <a:solidFill>
                  <a:srgbClr val="FFFFFF"/>
                </a:solidFill>
                <a:latin typeface="Open Sauce"/>
                <a:ea typeface="Open Sauce"/>
                <a:cs typeface="Open Sauce"/>
                <a:sym typeface="Open Sauce"/>
              </a:rPr>
              <a:t>ewo</a:t>
            </a:r>
            <a:r>
              <a:rPr lang="en-US" sz="2897" spc="5">
                <a:solidFill>
                  <a:srgbClr val="FFFFFF"/>
                </a:solidFill>
                <a:latin typeface="Open Sauce"/>
                <a:ea typeface="Open Sauce"/>
                <a:cs typeface="Open Sauce"/>
                <a:sym typeface="Open Sauce"/>
              </a:rPr>
              <a:t>r</a:t>
            </a:r>
            <a:r>
              <a:rPr lang="en-US" sz="2897" spc="5">
                <a:solidFill>
                  <a:srgbClr val="FFFFFF"/>
                </a:solidFill>
                <a:latin typeface="Open Sauce"/>
                <a:ea typeface="Open Sauce"/>
                <a:cs typeface="Open Sauce"/>
                <a:sym typeface="Open Sauce"/>
              </a:rPr>
              <a:t>k C</a:t>
            </a:r>
            <a:r>
              <a:rPr lang="en-US" sz="2897" spc="5">
                <a:solidFill>
                  <a:srgbClr val="FFFFFF"/>
                </a:solidFill>
                <a:latin typeface="Open Sauce"/>
                <a:ea typeface="Open Sauce"/>
                <a:cs typeface="Open Sauce"/>
                <a:sym typeface="Open Sauce"/>
              </a:rPr>
              <a:t>o</a:t>
            </a:r>
            <a:r>
              <a:rPr lang="en-US" sz="2897" spc="5">
                <a:solidFill>
                  <a:srgbClr val="FFFFFF"/>
                </a:solidFill>
                <a:latin typeface="Open Sauce"/>
                <a:ea typeface="Open Sauce"/>
                <a:cs typeface="Open Sauce"/>
                <a:sym typeface="Open Sauce"/>
              </a:rPr>
              <a:t>r</a:t>
            </a:r>
            <a:r>
              <a:rPr lang="en-US" sz="2897" spc="5">
                <a:solidFill>
                  <a:srgbClr val="FFFFFF"/>
                </a:solidFill>
                <a:latin typeface="Open Sauce"/>
                <a:ea typeface="Open Sauce"/>
                <a:cs typeface="Open Sauce"/>
                <a:sym typeface="Open Sauce"/>
              </a:rPr>
              <a:t>e</a:t>
            </a:r>
          </a:p>
          <a:p>
            <a:pPr algn="l" marL="625469" indent="-312735" lvl="1">
              <a:lnSpc>
                <a:spcPts val="4055"/>
              </a:lnSpc>
              <a:buFont typeface="Arial"/>
              <a:buChar char="•"/>
            </a:pPr>
            <a:r>
              <a:rPr lang="en-US" sz="2897" spc="5">
                <a:solidFill>
                  <a:srgbClr val="FFFFFF"/>
                </a:solidFill>
                <a:latin typeface="Open Sauce"/>
                <a:ea typeface="Open Sauce"/>
                <a:cs typeface="Open Sauce"/>
                <a:sym typeface="Open Sauce"/>
              </a:rPr>
              <a:t>Autom</a:t>
            </a:r>
            <a:r>
              <a:rPr lang="en-US" sz="2897" spc="5">
                <a:solidFill>
                  <a:srgbClr val="FFFFFF"/>
                </a:solidFill>
                <a:latin typeface="Open Sauce"/>
                <a:ea typeface="Open Sauce"/>
                <a:cs typeface="Open Sauce"/>
                <a:sym typeface="Open Sauce"/>
              </a:rPr>
              <a:t>at</a:t>
            </a:r>
            <a:r>
              <a:rPr lang="en-US" sz="2897" spc="5">
                <a:solidFill>
                  <a:srgbClr val="FFFFFF"/>
                </a:solidFill>
                <a:latin typeface="Open Sauce"/>
                <a:ea typeface="Open Sauce"/>
                <a:cs typeface="Open Sauce"/>
                <a:sym typeface="Open Sauce"/>
              </a:rPr>
              <a:t>ion of</a:t>
            </a:r>
            <a:r>
              <a:rPr lang="en-US" sz="2897" spc="5">
                <a:solidFill>
                  <a:srgbClr val="FFFFFF"/>
                </a:solidFill>
                <a:latin typeface="Open Sauce"/>
                <a:ea typeface="Open Sauce"/>
                <a:cs typeface="Open Sauce"/>
                <a:sym typeface="Open Sauce"/>
              </a:rPr>
              <a:t> </a:t>
            </a:r>
            <a:r>
              <a:rPr lang="en-US" sz="2897" spc="5">
                <a:solidFill>
                  <a:srgbClr val="FFFFFF"/>
                </a:solidFill>
                <a:latin typeface="Open Sauce"/>
                <a:ea typeface="Open Sauce"/>
                <a:cs typeface="Open Sauce"/>
                <a:sym typeface="Open Sauce"/>
              </a:rPr>
              <a:t>workf</a:t>
            </a:r>
            <a:r>
              <a:rPr lang="en-US" sz="2897" spc="5">
                <a:solidFill>
                  <a:srgbClr val="FFFFFF"/>
                </a:solidFill>
                <a:latin typeface="Open Sauce"/>
                <a:ea typeface="Open Sauce"/>
                <a:cs typeface="Open Sauce"/>
                <a:sym typeface="Open Sauce"/>
              </a:rPr>
              <a:t>l</a:t>
            </a:r>
            <a:r>
              <a:rPr lang="en-US" sz="2897" spc="5">
                <a:solidFill>
                  <a:srgbClr val="FFFFFF"/>
                </a:solidFill>
                <a:latin typeface="Open Sauce"/>
                <a:ea typeface="Open Sauce"/>
                <a:cs typeface="Open Sauce"/>
                <a:sym typeface="Open Sauce"/>
              </a:rPr>
              <a:t>ows</a:t>
            </a:r>
          </a:p>
          <a:p>
            <a:pPr algn="l" marL="625469" indent="-312735" lvl="1">
              <a:lnSpc>
                <a:spcPts val="4055"/>
              </a:lnSpc>
              <a:buFont typeface="Arial"/>
              <a:buChar char="•"/>
            </a:pPr>
            <a:r>
              <a:rPr lang="en-US" sz="2897" spc="5">
                <a:solidFill>
                  <a:srgbClr val="FFFFFF"/>
                </a:solidFill>
                <a:latin typeface="Open Sauce"/>
                <a:ea typeface="Open Sauce"/>
                <a:cs typeface="Open Sauce"/>
                <a:sym typeface="Open Sauce"/>
              </a:rPr>
              <a:t>Web UI development</a:t>
            </a:r>
          </a:p>
          <a:p>
            <a:pPr algn="l" marL="625469" indent="-312735" lvl="1">
              <a:lnSpc>
                <a:spcPts val="4055"/>
              </a:lnSpc>
              <a:buFont typeface="Arial"/>
              <a:buChar char="•"/>
            </a:pPr>
            <a:r>
              <a:rPr lang="en-US" sz="2897" spc="5">
                <a:solidFill>
                  <a:srgbClr val="FFFFFF"/>
                </a:solidFill>
                <a:latin typeface="Open Sauce"/>
                <a:ea typeface="Open Sauce"/>
                <a:cs typeface="Open Sauce"/>
                <a:sym typeface="Open Sauce"/>
              </a:rPr>
              <a:t>Version control management</a:t>
            </a:r>
          </a:p>
          <a:p>
            <a:pPr algn="l">
              <a:lnSpc>
                <a:spcPts val="4055"/>
              </a:lnSpc>
              <a:spcBef>
                <a:spcPct val="0"/>
              </a:spcBef>
            </a:pPr>
          </a:p>
        </p:txBody>
      </p:sp>
      <p:sp>
        <p:nvSpPr>
          <p:cNvPr name="Freeform 7" id="7"/>
          <p:cNvSpPr/>
          <p:nvPr/>
        </p:nvSpPr>
        <p:spPr>
          <a:xfrm flipH="false" flipV="true" rot="0">
            <a:off x="-19730737" y="-8146705"/>
            <a:ext cx="23560802" cy="23560802"/>
          </a:xfrm>
          <a:custGeom>
            <a:avLst/>
            <a:gdLst/>
            <a:ahLst/>
            <a:cxnLst/>
            <a:rect r="r" b="b" t="t" l="l"/>
            <a:pathLst>
              <a:path h="23560802" w="23560802">
                <a:moveTo>
                  <a:pt x="0" y="23560802"/>
                </a:moveTo>
                <a:lnTo>
                  <a:pt x="23560802" y="23560802"/>
                </a:lnTo>
                <a:lnTo>
                  <a:pt x="23560802" y="0"/>
                </a:lnTo>
                <a:lnTo>
                  <a:pt x="0" y="0"/>
                </a:lnTo>
                <a:lnTo>
                  <a:pt x="0" y="2356080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2585564" y="5401167"/>
            <a:ext cx="4310743" cy="4114800"/>
          </a:xfrm>
          <a:custGeom>
            <a:avLst/>
            <a:gdLst/>
            <a:ahLst/>
            <a:cxnLst/>
            <a:rect r="r" b="b" t="t" l="l"/>
            <a:pathLst>
              <a:path h="4114800" w="4310743">
                <a:moveTo>
                  <a:pt x="0" y="0"/>
                </a:moveTo>
                <a:lnTo>
                  <a:pt x="4310743" y="0"/>
                </a:lnTo>
                <a:lnTo>
                  <a:pt x="431074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09</a:t>
            </a:r>
          </a:p>
        </p:txBody>
      </p:sp>
      <p:sp>
        <p:nvSpPr>
          <p:cNvPr name="TextBox 10" id="10"/>
          <p:cNvSpPr txBox="true"/>
          <p:nvPr/>
        </p:nvSpPr>
        <p:spPr>
          <a:xfrm rot="0">
            <a:off x="6158477" y="417774"/>
            <a:ext cx="5971047" cy="941070"/>
          </a:xfrm>
          <a:prstGeom prst="rect">
            <a:avLst/>
          </a:prstGeom>
        </p:spPr>
        <p:txBody>
          <a:bodyPr anchor="t" rtlCol="false" tIns="0" lIns="0" bIns="0" rIns="0">
            <a:spAutoFit/>
          </a:bodyPr>
          <a:lstStyle/>
          <a:p>
            <a:pPr algn="just" marL="0" indent="0" lvl="0">
              <a:lnSpc>
                <a:spcPts val="7260"/>
              </a:lnSpc>
            </a:pPr>
            <a:r>
              <a:rPr lang="en-US" b="true" sz="6600" spc="13">
                <a:solidFill>
                  <a:srgbClr val="FFFFFF"/>
                </a:solidFill>
                <a:latin typeface="Open Sauce Bold"/>
                <a:ea typeface="Open Sauce Bold"/>
                <a:cs typeface="Open Sauce Bold"/>
                <a:sym typeface="Open Sauce Bold"/>
              </a:rPr>
              <a:t>CONCLUSION</a:t>
            </a:r>
          </a:p>
        </p:txBody>
      </p:sp>
      <p:sp>
        <p:nvSpPr>
          <p:cNvPr name="TextBox 11" id="11"/>
          <p:cNvSpPr txBox="true"/>
          <p:nvPr/>
        </p:nvSpPr>
        <p:spPr>
          <a:xfrm rot="0">
            <a:off x="2351481" y="6142809"/>
            <a:ext cx="10542217" cy="2564840"/>
          </a:xfrm>
          <a:prstGeom prst="rect">
            <a:avLst/>
          </a:prstGeom>
        </p:spPr>
        <p:txBody>
          <a:bodyPr anchor="t" rtlCol="false" tIns="0" lIns="0" bIns="0" rIns="0">
            <a:spAutoFit/>
          </a:bodyPr>
          <a:lstStyle/>
          <a:p>
            <a:pPr algn="l">
              <a:lnSpc>
                <a:spcPts val="4055"/>
              </a:lnSpc>
            </a:pPr>
            <a:r>
              <a:rPr lang="en-US" sz="2897" spc="5" b="true">
                <a:solidFill>
                  <a:srgbClr val="FFFFFF"/>
                </a:solidFill>
                <a:latin typeface="Open Sauce Bold"/>
                <a:ea typeface="Open Sauce Bold"/>
                <a:cs typeface="Open Sauce Bold"/>
                <a:sym typeface="Open Sauce Bold"/>
              </a:rPr>
              <a:t>The final system offers value by improving:</a:t>
            </a:r>
          </a:p>
          <a:p>
            <a:pPr algn="l">
              <a:lnSpc>
                <a:spcPts val="4055"/>
              </a:lnSpc>
            </a:pPr>
            <a:r>
              <a:rPr lang="en-US" sz="2897" spc="5">
                <a:solidFill>
                  <a:srgbClr val="FFFFFF"/>
                </a:solidFill>
                <a:latin typeface="Open Sauce"/>
                <a:ea typeface="Open Sauce"/>
                <a:cs typeface="Open Sauce"/>
                <a:sym typeface="Open Sauce"/>
              </a:rPr>
              <a:t> ✔ Efficiency</a:t>
            </a:r>
          </a:p>
          <a:p>
            <a:pPr algn="l">
              <a:lnSpc>
                <a:spcPts val="4055"/>
              </a:lnSpc>
            </a:pPr>
            <a:r>
              <a:rPr lang="en-US" sz="2897" spc="5">
                <a:solidFill>
                  <a:srgbClr val="FFFFFF"/>
                </a:solidFill>
                <a:latin typeface="Open Sauce"/>
                <a:ea typeface="Open Sauce"/>
                <a:cs typeface="Open Sauce"/>
                <a:sym typeface="Open Sauce"/>
              </a:rPr>
              <a:t> ✔ Accuracy</a:t>
            </a:r>
          </a:p>
          <a:p>
            <a:pPr algn="l">
              <a:lnSpc>
                <a:spcPts val="4055"/>
              </a:lnSpc>
            </a:pPr>
            <a:r>
              <a:rPr lang="en-US" sz="2897" spc="5">
                <a:solidFill>
                  <a:srgbClr val="FFFFFF"/>
                </a:solidFill>
                <a:latin typeface="Open Sauce"/>
                <a:ea typeface="Open Sauce"/>
                <a:cs typeface="Open Sauce"/>
                <a:sym typeface="Open Sauce"/>
              </a:rPr>
              <a:t> ✔ T</a:t>
            </a:r>
            <a:r>
              <a:rPr lang="en-US" sz="2897" spc="5">
                <a:solidFill>
                  <a:srgbClr val="FFFFFF"/>
                </a:solidFill>
                <a:latin typeface="Open Sauce"/>
                <a:ea typeface="Open Sauce"/>
                <a:cs typeface="Open Sauce"/>
                <a:sym typeface="Open Sauce"/>
              </a:rPr>
              <a:t>ranspar</a:t>
            </a:r>
            <a:r>
              <a:rPr lang="en-US" sz="2897" spc="5">
                <a:solidFill>
                  <a:srgbClr val="FFFFFF"/>
                </a:solidFill>
                <a:latin typeface="Open Sauce"/>
                <a:ea typeface="Open Sauce"/>
                <a:cs typeface="Open Sauce"/>
                <a:sym typeface="Open Sauce"/>
              </a:rPr>
              <a:t>ency</a:t>
            </a:r>
          </a:p>
          <a:p>
            <a:pPr algn="l">
              <a:lnSpc>
                <a:spcPts val="4055"/>
              </a:lnSpc>
              <a:spcBef>
                <a:spcPct val="0"/>
              </a:spcBef>
            </a:pPr>
            <a:r>
              <a:rPr lang="en-US" sz="2897" spc="5">
                <a:solidFill>
                  <a:srgbClr val="FFFFFF"/>
                </a:solidFill>
                <a:latin typeface="Open Sauce"/>
                <a:ea typeface="Open Sauce"/>
                <a:cs typeface="Open Sauce"/>
                <a:sym typeface="Open Sauce"/>
              </a:rPr>
              <a:t> ✔ </a:t>
            </a:r>
            <a:r>
              <a:rPr lang="en-US" sz="2897" spc="5">
                <a:solidFill>
                  <a:srgbClr val="FFFFFF"/>
                </a:solidFill>
                <a:latin typeface="Open Sauce"/>
                <a:ea typeface="Open Sauce"/>
                <a:cs typeface="Open Sauce"/>
                <a:sym typeface="Open Sauce"/>
              </a:rPr>
              <a:t>Administr</a:t>
            </a:r>
            <a:r>
              <a:rPr lang="en-US" sz="2897" spc="5">
                <a:solidFill>
                  <a:srgbClr val="FFFFFF"/>
                </a:solidFill>
                <a:latin typeface="Open Sauce"/>
                <a:ea typeface="Open Sauce"/>
                <a:cs typeface="Open Sauce"/>
                <a:sym typeface="Open Sauce"/>
              </a:rPr>
              <a:t>at</a:t>
            </a:r>
            <a:r>
              <a:rPr lang="en-US" sz="2897" spc="5">
                <a:solidFill>
                  <a:srgbClr val="FFFFFF"/>
                </a:solidFill>
                <a:latin typeface="Open Sauce"/>
                <a:ea typeface="Open Sauce"/>
                <a:cs typeface="Open Sauce"/>
                <a:sym typeface="Open Sauce"/>
              </a:rPr>
              <a:t>ive</a:t>
            </a:r>
            <a:r>
              <a:rPr lang="en-US" sz="2897" spc="5">
                <a:solidFill>
                  <a:srgbClr val="FFFFFF"/>
                </a:solidFill>
                <a:latin typeface="Open Sauce"/>
                <a:ea typeface="Open Sauce"/>
                <a:cs typeface="Open Sauce"/>
                <a:sym typeface="Open Sauce"/>
              </a:rPr>
              <a:t> </a:t>
            </a:r>
            <a:r>
              <a:rPr lang="en-US" sz="2897" spc="5">
                <a:solidFill>
                  <a:srgbClr val="FFFFFF"/>
                </a:solidFill>
                <a:latin typeface="Open Sauce"/>
                <a:ea typeface="Open Sauce"/>
                <a:cs typeface="Open Sauce"/>
                <a:sym typeface="Open Sauce"/>
              </a:rPr>
              <a:t>workf</a:t>
            </a:r>
            <a:r>
              <a:rPr lang="en-US" sz="2897" spc="5">
                <a:solidFill>
                  <a:srgbClr val="FFFFFF"/>
                </a:solidFill>
                <a:latin typeface="Open Sauce"/>
                <a:ea typeface="Open Sauce"/>
                <a:cs typeface="Open Sauce"/>
                <a:sym typeface="Open Sauce"/>
              </a:rPr>
              <a:t>l</a:t>
            </a:r>
            <a:r>
              <a:rPr lang="en-US" sz="2897" spc="5">
                <a:solidFill>
                  <a:srgbClr val="FFFFFF"/>
                </a:solidFill>
                <a:latin typeface="Open Sauce"/>
                <a:ea typeface="Open Sauce"/>
                <a:cs typeface="Open Sauce"/>
                <a:sym typeface="Open Sauce"/>
              </a:rPr>
              <a:t>ow</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781372" y="-5086030"/>
            <a:ext cx="8558066" cy="8573655"/>
          </a:xfrm>
          <a:custGeom>
            <a:avLst/>
            <a:gdLst/>
            <a:ahLst/>
            <a:cxnLst/>
            <a:rect r="r" b="b" t="t" l="l"/>
            <a:pathLst>
              <a:path h="8573655" w="8558066">
                <a:moveTo>
                  <a:pt x="0" y="0"/>
                </a:moveTo>
                <a:lnTo>
                  <a:pt x="8558067" y="0"/>
                </a:lnTo>
                <a:lnTo>
                  <a:pt x="8558067" y="8573655"/>
                </a:lnTo>
                <a:lnTo>
                  <a:pt x="0" y="85736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81179" y="576468"/>
            <a:ext cx="1919429" cy="566532"/>
            <a:chOff x="0" y="0"/>
            <a:chExt cx="505529" cy="149210"/>
          </a:xfrm>
        </p:grpSpPr>
        <p:sp>
          <p:nvSpPr>
            <p:cNvPr name="Freeform 4" id="4"/>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5" id="5"/>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true" rot="0">
            <a:off x="-12583377" y="-2790648"/>
            <a:ext cx="15317645" cy="15317645"/>
          </a:xfrm>
          <a:custGeom>
            <a:avLst/>
            <a:gdLst/>
            <a:ahLst/>
            <a:cxnLst/>
            <a:rect r="r" b="b" t="t" l="l"/>
            <a:pathLst>
              <a:path h="15317645" w="15317645">
                <a:moveTo>
                  <a:pt x="0" y="15317645"/>
                </a:moveTo>
                <a:lnTo>
                  <a:pt x="15317645" y="15317645"/>
                </a:lnTo>
                <a:lnTo>
                  <a:pt x="15317645" y="0"/>
                </a:lnTo>
                <a:lnTo>
                  <a:pt x="0" y="0"/>
                </a:lnTo>
                <a:lnTo>
                  <a:pt x="0" y="1531764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826219" y="5806857"/>
            <a:ext cx="3808060" cy="4114800"/>
          </a:xfrm>
          <a:custGeom>
            <a:avLst/>
            <a:gdLst/>
            <a:ahLst/>
            <a:cxnLst/>
            <a:rect r="r" b="b" t="t" l="l"/>
            <a:pathLst>
              <a:path h="4114800" w="3808060">
                <a:moveTo>
                  <a:pt x="0" y="0"/>
                </a:moveTo>
                <a:lnTo>
                  <a:pt x="3808060" y="0"/>
                </a:lnTo>
                <a:lnTo>
                  <a:pt x="380806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Page 09</a:t>
            </a:r>
          </a:p>
        </p:txBody>
      </p:sp>
      <p:sp>
        <p:nvSpPr>
          <p:cNvPr name="TextBox 9" id="9"/>
          <p:cNvSpPr txBox="true"/>
          <p:nvPr/>
        </p:nvSpPr>
        <p:spPr>
          <a:xfrm rot="0">
            <a:off x="2533810" y="2202046"/>
            <a:ext cx="13220380" cy="5136590"/>
          </a:xfrm>
          <a:prstGeom prst="rect">
            <a:avLst/>
          </a:prstGeom>
        </p:spPr>
        <p:txBody>
          <a:bodyPr anchor="t" rtlCol="false" tIns="0" lIns="0" bIns="0" rIns="0">
            <a:spAutoFit/>
          </a:bodyPr>
          <a:lstStyle/>
          <a:p>
            <a:pPr algn="l" marL="625469" indent="-312735" lvl="1">
              <a:lnSpc>
                <a:spcPts val="4055"/>
              </a:lnSpc>
              <a:buFont typeface="Arial"/>
              <a:buChar char="•"/>
            </a:pPr>
            <a:r>
              <a:rPr lang="en-US" sz="2897" spc="5">
                <a:solidFill>
                  <a:srgbClr val="FFFFFF"/>
                </a:solidFill>
                <a:latin typeface="Open Sauce"/>
                <a:ea typeface="Open Sauce"/>
                <a:cs typeface="Open Sauce"/>
                <a:sym typeface="Open Sauce"/>
              </a:rPr>
              <a:t>Microsoft. 2025. ASP.NET Core Docume</a:t>
            </a:r>
            <a:r>
              <a:rPr lang="en-US" sz="2897" spc="5">
                <a:solidFill>
                  <a:srgbClr val="FFFFFF"/>
                </a:solidFill>
                <a:latin typeface="Open Sauce"/>
                <a:ea typeface="Open Sauce"/>
                <a:cs typeface="Open Sauce"/>
                <a:sym typeface="Open Sauce"/>
              </a:rPr>
              <a:t>ntatio</a:t>
            </a:r>
            <a:r>
              <a:rPr lang="en-US" sz="2897" spc="5">
                <a:solidFill>
                  <a:srgbClr val="FFFFFF"/>
                </a:solidFill>
                <a:latin typeface="Open Sauce"/>
                <a:ea typeface="Open Sauce"/>
                <a:cs typeface="Open Sauce"/>
                <a:sym typeface="Open Sauce"/>
              </a:rPr>
              <a:t>n. Available at: https://learn.microsoft.com/aspnet/core</a:t>
            </a:r>
          </a:p>
          <a:p>
            <a:pPr algn="l" marL="625469" indent="-312735" lvl="1">
              <a:lnSpc>
                <a:spcPts val="4055"/>
              </a:lnSpc>
              <a:buFont typeface="Arial"/>
              <a:buChar char="•"/>
            </a:pPr>
            <a:r>
              <a:rPr lang="en-US" sz="2897" spc="5">
                <a:solidFill>
                  <a:srgbClr val="FFFFFF"/>
                </a:solidFill>
                <a:latin typeface="Open Sauce"/>
                <a:ea typeface="Open Sauce"/>
                <a:cs typeface="Open Sauce"/>
                <a:sym typeface="Open Sauce"/>
              </a:rPr>
              <a:t>M</a:t>
            </a:r>
            <a:r>
              <a:rPr lang="en-US" sz="2897" spc="5">
                <a:solidFill>
                  <a:srgbClr val="FFFFFF"/>
                </a:solidFill>
                <a:latin typeface="Open Sauce"/>
                <a:ea typeface="Open Sauce"/>
                <a:cs typeface="Open Sauce"/>
                <a:sym typeface="Open Sauce"/>
              </a:rPr>
              <a:t>icrosoft. 2025. </a:t>
            </a:r>
            <a:r>
              <a:rPr lang="en-US" sz="2897" spc="5">
                <a:solidFill>
                  <a:srgbClr val="FFFFFF"/>
                </a:solidFill>
                <a:latin typeface="Open Sauce"/>
                <a:ea typeface="Open Sauce"/>
                <a:cs typeface="Open Sauce"/>
                <a:sym typeface="Open Sauce"/>
              </a:rPr>
              <a:t>Entity</a:t>
            </a:r>
            <a:r>
              <a:rPr lang="en-US" sz="2897" spc="5">
                <a:solidFill>
                  <a:srgbClr val="FFFFFF"/>
                </a:solidFill>
                <a:latin typeface="Open Sauce"/>
                <a:ea typeface="Open Sauce"/>
                <a:cs typeface="Open Sauce"/>
                <a:sym typeface="Open Sauce"/>
              </a:rPr>
              <a:t> </a:t>
            </a:r>
            <a:r>
              <a:rPr lang="en-US" sz="2897" spc="5">
                <a:solidFill>
                  <a:srgbClr val="FFFFFF"/>
                </a:solidFill>
                <a:latin typeface="Open Sauce"/>
                <a:ea typeface="Open Sauce"/>
                <a:cs typeface="Open Sauce"/>
                <a:sym typeface="Open Sauce"/>
              </a:rPr>
              <a:t>Fra</a:t>
            </a:r>
            <a:r>
              <a:rPr lang="en-US" sz="2897" spc="5">
                <a:solidFill>
                  <a:srgbClr val="FFFFFF"/>
                </a:solidFill>
                <a:latin typeface="Open Sauce"/>
                <a:ea typeface="Open Sauce"/>
                <a:cs typeface="Open Sauce"/>
                <a:sym typeface="Open Sauce"/>
              </a:rPr>
              <a:t>m</a:t>
            </a:r>
            <a:r>
              <a:rPr lang="en-US" sz="2897" spc="5">
                <a:solidFill>
                  <a:srgbClr val="FFFFFF"/>
                </a:solidFill>
                <a:latin typeface="Open Sauce"/>
                <a:ea typeface="Open Sauce"/>
                <a:cs typeface="Open Sauce"/>
                <a:sym typeface="Open Sauce"/>
              </a:rPr>
              <a:t>ewo</a:t>
            </a:r>
            <a:r>
              <a:rPr lang="en-US" sz="2897" spc="5">
                <a:solidFill>
                  <a:srgbClr val="FFFFFF"/>
                </a:solidFill>
                <a:latin typeface="Open Sauce"/>
                <a:ea typeface="Open Sauce"/>
                <a:cs typeface="Open Sauce"/>
                <a:sym typeface="Open Sauce"/>
              </a:rPr>
              <a:t>r</a:t>
            </a:r>
            <a:r>
              <a:rPr lang="en-US" sz="2897" spc="5">
                <a:solidFill>
                  <a:srgbClr val="FFFFFF"/>
                </a:solidFill>
                <a:latin typeface="Open Sauce"/>
                <a:ea typeface="Open Sauce"/>
                <a:cs typeface="Open Sauce"/>
                <a:sym typeface="Open Sauce"/>
              </a:rPr>
              <a:t>k C</a:t>
            </a:r>
            <a:r>
              <a:rPr lang="en-US" sz="2897" spc="5">
                <a:solidFill>
                  <a:srgbClr val="FFFFFF"/>
                </a:solidFill>
                <a:latin typeface="Open Sauce"/>
                <a:ea typeface="Open Sauce"/>
                <a:cs typeface="Open Sauce"/>
                <a:sym typeface="Open Sauce"/>
              </a:rPr>
              <a:t>o</a:t>
            </a:r>
            <a:r>
              <a:rPr lang="en-US" sz="2897" spc="5">
                <a:solidFill>
                  <a:srgbClr val="FFFFFF"/>
                </a:solidFill>
                <a:latin typeface="Open Sauce"/>
                <a:ea typeface="Open Sauce"/>
                <a:cs typeface="Open Sauce"/>
                <a:sym typeface="Open Sauce"/>
              </a:rPr>
              <a:t>r</a:t>
            </a:r>
            <a:r>
              <a:rPr lang="en-US" sz="2897" spc="5">
                <a:solidFill>
                  <a:srgbClr val="FFFFFF"/>
                </a:solidFill>
                <a:latin typeface="Open Sauce"/>
                <a:ea typeface="Open Sauce"/>
                <a:cs typeface="Open Sauce"/>
                <a:sym typeface="Open Sauce"/>
              </a:rPr>
              <a:t>e Docs. </a:t>
            </a:r>
            <a:r>
              <a:rPr lang="en-US" sz="2897" spc="5">
                <a:solidFill>
                  <a:srgbClr val="FFFFFF"/>
                </a:solidFill>
                <a:latin typeface="Open Sauce"/>
                <a:ea typeface="Open Sauce"/>
                <a:cs typeface="Open Sauce"/>
                <a:sym typeface="Open Sauce"/>
              </a:rPr>
              <a:t>Available at: https://learn.microsoft.com/ef/core</a:t>
            </a:r>
          </a:p>
          <a:p>
            <a:pPr algn="l" marL="625469" indent="-312735" lvl="1">
              <a:lnSpc>
                <a:spcPts val="4055"/>
              </a:lnSpc>
              <a:buFont typeface="Arial"/>
              <a:buChar char="•"/>
            </a:pPr>
            <a:r>
              <a:rPr lang="en-US" sz="2897" spc="5">
                <a:solidFill>
                  <a:srgbClr val="FFFFFF"/>
                </a:solidFill>
                <a:latin typeface="Open Sauce"/>
                <a:ea typeface="Open Sauce"/>
                <a:cs typeface="Open Sauce"/>
                <a:sym typeface="Open Sauce"/>
              </a:rPr>
              <a:t>IIE. 2025. PROG6212 Module Guide. Independent Ins</a:t>
            </a:r>
            <a:r>
              <a:rPr lang="en-US" sz="2897" spc="5">
                <a:solidFill>
                  <a:srgbClr val="FFFFFF"/>
                </a:solidFill>
                <a:latin typeface="Open Sauce"/>
                <a:ea typeface="Open Sauce"/>
                <a:cs typeface="Open Sauce"/>
                <a:sym typeface="Open Sauce"/>
              </a:rPr>
              <a:t>t</a:t>
            </a:r>
            <a:r>
              <a:rPr lang="en-US" sz="2897" spc="5">
                <a:solidFill>
                  <a:srgbClr val="FFFFFF"/>
                </a:solidFill>
                <a:latin typeface="Open Sauce"/>
                <a:ea typeface="Open Sauce"/>
                <a:cs typeface="Open Sauce"/>
                <a:sym typeface="Open Sauce"/>
              </a:rPr>
              <a:t>itute of</a:t>
            </a:r>
            <a:r>
              <a:rPr lang="en-US" sz="2897" spc="5">
                <a:solidFill>
                  <a:srgbClr val="FFFFFF"/>
                </a:solidFill>
                <a:latin typeface="Open Sauce"/>
                <a:ea typeface="Open Sauce"/>
                <a:cs typeface="Open Sauce"/>
                <a:sym typeface="Open Sauce"/>
              </a:rPr>
              <a:t> Educati</a:t>
            </a:r>
            <a:r>
              <a:rPr lang="en-US" sz="2897" spc="5">
                <a:solidFill>
                  <a:srgbClr val="FFFFFF"/>
                </a:solidFill>
                <a:latin typeface="Open Sauce"/>
                <a:ea typeface="Open Sauce"/>
                <a:cs typeface="Open Sauce"/>
                <a:sym typeface="Open Sauce"/>
              </a:rPr>
              <a:t>on.</a:t>
            </a:r>
          </a:p>
          <a:p>
            <a:pPr algn="l" marL="625469" indent="-312735" lvl="1">
              <a:lnSpc>
                <a:spcPts val="4055"/>
              </a:lnSpc>
              <a:buFont typeface="Arial"/>
              <a:buChar char="•"/>
            </a:pPr>
            <a:r>
              <a:rPr lang="en-US" sz="2897" spc="5">
                <a:solidFill>
                  <a:srgbClr val="FFFFFF"/>
                </a:solidFill>
                <a:latin typeface="Open Sauce"/>
                <a:ea typeface="Open Sauce"/>
                <a:cs typeface="Open Sauce"/>
                <a:sym typeface="Open Sauce"/>
              </a:rPr>
              <a:t>Microsoft SQL Server Documentation. 2025. https://learn.microsoft.com/sql</a:t>
            </a:r>
          </a:p>
          <a:p>
            <a:pPr algn="l" marL="625469" indent="-312735" lvl="1">
              <a:lnSpc>
                <a:spcPts val="4055"/>
              </a:lnSpc>
              <a:buFont typeface="Arial"/>
              <a:buChar char="•"/>
            </a:pPr>
            <a:r>
              <a:rPr lang="en-US" sz="2897" spc="5">
                <a:solidFill>
                  <a:srgbClr val="FFFFFF"/>
                </a:solidFill>
                <a:latin typeface="Open Sauce"/>
                <a:ea typeface="Open Sauce"/>
                <a:cs typeface="Open Sauce"/>
                <a:sym typeface="Open Sauce"/>
              </a:rPr>
              <a:t>Tutorialspoint. 2025. MVC Architecture Overview.</a:t>
            </a:r>
          </a:p>
          <a:p>
            <a:pPr algn="l">
              <a:lnSpc>
                <a:spcPts val="4055"/>
              </a:lnSpc>
              <a:spcBef>
                <a:spcPct val="0"/>
              </a:spcBef>
            </a:pPr>
          </a:p>
        </p:txBody>
      </p:sp>
      <p:sp>
        <p:nvSpPr>
          <p:cNvPr name="TextBox 10" id="10"/>
          <p:cNvSpPr txBox="true"/>
          <p:nvPr/>
        </p:nvSpPr>
        <p:spPr>
          <a:xfrm rot="0">
            <a:off x="5674284" y="410152"/>
            <a:ext cx="5687955" cy="941070"/>
          </a:xfrm>
          <a:prstGeom prst="rect">
            <a:avLst/>
          </a:prstGeom>
        </p:spPr>
        <p:txBody>
          <a:bodyPr anchor="t" rtlCol="false" tIns="0" lIns="0" bIns="0" rIns="0">
            <a:spAutoFit/>
          </a:bodyPr>
          <a:lstStyle/>
          <a:p>
            <a:pPr algn="just" marL="0" indent="0" lvl="0">
              <a:lnSpc>
                <a:spcPts val="7260"/>
              </a:lnSpc>
            </a:pPr>
            <a:r>
              <a:rPr lang="en-US" b="true" sz="6600" spc="13">
                <a:solidFill>
                  <a:srgbClr val="FFFFFF"/>
                </a:solidFill>
                <a:latin typeface="Open Sauce Bold"/>
                <a:ea typeface="Open Sauce Bold"/>
                <a:cs typeface="Open Sauce Bold"/>
                <a:sym typeface="Open Sauce Bold"/>
              </a:rPr>
              <a:t>REFERENCES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443169" y="-2557831"/>
            <a:ext cx="7401663" cy="18288000"/>
          </a:xfrm>
          <a:custGeom>
            <a:avLst/>
            <a:gdLst/>
            <a:ahLst/>
            <a:cxnLst/>
            <a:rect r="r" b="b" t="t" l="l"/>
            <a:pathLst>
              <a:path h="18288000" w="7401663">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t="0" r="0" b="0"/>
            </a:stretch>
          </a:blipFill>
        </p:spPr>
      </p:sp>
      <p:sp>
        <p:nvSpPr>
          <p:cNvPr name="TextBox 3" id="3"/>
          <p:cNvSpPr txBox="true"/>
          <p:nvPr/>
        </p:nvSpPr>
        <p:spPr>
          <a:xfrm rot="0">
            <a:off x="2180270" y="3196636"/>
            <a:ext cx="13927459" cy="2710767"/>
          </a:xfrm>
          <a:prstGeom prst="rect">
            <a:avLst/>
          </a:prstGeom>
        </p:spPr>
        <p:txBody>
          <a:bodyPr anchor="t" rtlCol="false" tIns="0" lIns="0" bIns="0" rIns="0">
            <a:spAutoFit/>
          </a:bodyPr>
          <a:lstStyle/>
          <a:p>
            <a:pPr algn="ctr" marL="0" indent="0" lvl="0">
              <a:lnSpc>
                <a:spcPts val="22262"/>
              </a:lnSpc>
              <a:spcBef>
                <a:spcPct val="0"/>
              </a:spcBef>
            </a:pPr>
            <a:r>
              <a:rPr lang="en-US" b="true" sz="15901" spc="-747">
                <a:solidFill>
                  <a:srgbClr val="FFFFFF"/>
                </a:solidFill>
                <a:latin typeface="Open Sauce Bold"/>
                <a:ea typeface="Open Sauce Bold"/>
                <a:cs typeface="Open Sauce Bold"/>
                <a:sym typeface="Open Sauce Bold"/>
              </a:rPr>
              <a:t>Thank You !</a:t>
            </a:r>
          </a:p>
        </p:txBody>
      </p:sp>
      <p:sp>
        <p:nvSpPr>
          <p:cNvPr name="TextBox 4" id="4"/>
          <p:cNvSpPr txBox="true"/>
          <p:nvPr/>
        </p:nvSpPr>
        <p:spPr>
          <a:xfrm rot="0">
            <a:off x="8496029" y="8835324"/>
            <a:ext cx="1274721" cy="422976"/>
          </a:xfrm>
          <a:prstGeom prst="rect">
            <a:avLst/>
          </a:prstGeom>
        </p:spPr>
        <p:txBody>
          <a:bodyPr anchor="t" rtlCol="false" tIns="0" lIns="0" bIns="0" rIns="0">
            <a:spAutoFit/>
          </a:bodyPr>
          <a:lstStyle/>
          <a:p>
            <a:pPr algn="ctr">
              <a:lnSpc>
                <a:spcPts val="3461"/>
              </a:lnSpc>
            </a:pPr>
            <a:r>
              <a:rPr lang="en-US" sz="2472">
                <a:solidFill>
                  <a:srgbClr val="FFFFFF"/>
                </a:solidFill>
                <a:latin typeface="Open Sauce"/>
                <a:ea typeface="Open Sauce"/>
                <a:cs typeface="Open Sauce"/>
                <a:sym typeface="Open Sauce"/>
              </a:rPr>
              <a:t>-</a:t>
            </a:r>
          </a:p>
        </p:txBody>
      </p:sp>
      <p:grpSp>
        <p:nvGrpSpPr>
          <p:cNvPr name="Group 5" id="5"/>
          <p:cNvGrpSpPr/>
          <p:nvPr/>
        </p:nvGrpSpPr>
        <p:grpSpPr>
          <a:xfrm rot="0">
            <a:off x="1500110" y="718854"/>
            <a:ext cx="15287780" cy="309846"/>
            <a:chOff x="0" y="0"/>
            <a:chExt cx="20383706" cy="413127"/>
          </a:xfrm>
        </p:grpSpPr>
        <p:sp>
          <p:nvSpPr>
            <p:cNvPr name="TextBox 6" id="6"/>
            <p:cNvSpPr txBox="true"/>
            <p:nvPr/>
          </p:nvSpPr>
          <p:spPr>
            <a:xfrm rot="0">
              <a:off x="0" y="-38100"/>
              <a:ext cx="2216733" cy="451227"/>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Open Sauce"/>
                  <a:ea typeface="Open Sauce"/>
                  <a:cs typeface="Open Sauce"/>
                  <a:sym typeface="Open Sauce"/>
                </a:rPr>
                <a:t>Home</a:t>
              </a:r>
            </a:p>
          </p:txBody>
        </p:sp>
        <p:sp>
          <p:nvSpPr>
            <p:cNvPr name="TextBox 7" id="7"/>
            <p:cNvSpPr txBox="true"/>
            <p:nvPr/>
          </p:nvSpPr>
          <p:spPr>
            <a:xfrm rot="0">
              <a:off x="2433510" y="-38100"/>
              <a:ext cx="2542777" cy="451227"/>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Open Sauce"/>
                  <a:ea typeface="Open Sauce"/>
                  <a:cs typeface="Open Sauce"/>
                  <a:sym typeface="Open Sauce"/>
                </a:rPr>
                <a:t>Submit Claim</a:t>
              </a:r>
            </a:p>
          </p:txBody>
        </p:sp>
        <p:sp>
          <p:nvSpPr>
            <p:cNvPr name="TextBox 8" id="8"/>
            <p:cNvSpPr txBox="true"/>
            <p:nvPr/>
          </p:nvSpPr>
          <p:spPr>
            <a:xfrm rot="0">
              <a:off x="5560165" y="-38100"/>
              <a:ext cx="2118920" cy="451227"/>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Open Sauce"/>
                  <a:ea typeface="Open Sauce"/>
                  <a:cs typeface="Open Sauce"/>
                  <a:sym typeface="Open Sauce"/>
                </a:rPr>
                <a:t>My Claims</a:t>
              </a:r>
            </a:p>
          </p:txBody>
        </p:sp>
        <p:sp>
          <p:nvSpPr>
            <p:cNvPr name="TextBox 9" id="9"/>
            <p:cNvSpPr txBox="true"/>
            <p:nvPr/>
          </p:nvSpPr>
          <p:spPr>
            <a:xfrm rot="0">
              <a:off x="8352185" y="-38100"/>
              <a:ext cx="4034561" cy="451227"/>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Open Sauce"/>
                  <a:ea typeface="Open Sauce"/>
                  <a:cs typeface="Open Sauce"/>
                  <a:sym typeface="Open Sauce"/>
                </a:rPr>
                <a:t>Coordinator Dashboard</a:t>
              </a:r>
            </a:p>
          </p:txBody>
        </p:sp>
        <p:sp>
          <p:nvSpPr>
            <p:cNvPr name="TextBox 10" id="10"/>
            <p:cNvSpPr txBox="true"/>
            <p:nvPr/>
          </p:nvSpPr>
          <p:spPr>
            <a:xfrm rot="0">
              <a:off x="13010830" y="-38100"/>
              <a:ext cx="4034561" cy="451227"/>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Open Sauce"/>
                  <a:ea typeface="Open Sauce"/>
                  <a:cs typeface="Open Sauce"/>
                  <a:sym typeface="Open Sauce"/>
                </a:rPr>
                <a:t>Manger Dashboard</a:t>
              </a:r>
            </a:p>
          </p:txBody>
        </p:sp>
        <p:sp>
          <p:nvSpPr>
            <p:cNvPr name="TextBox 11" id="11"/>
            <p:cNvSpPr txBox="true"/>
            <p:nvPr/>
          </p:nvSpPr>
          <p:spPr>
            <a:xfrm rot="0">
              <a:off x="16349145" y="-38100"/>
              <a:ext cx="4034561" cy="451227"/>
            </a:xfrm>
            <a:prstGeom prst="rect">
              <a:avLst/>
            </a:prstGeom>
          </p:spPr>
          <p:txBody>
            <a:bodyPr anchor="t" rtlCol="false" tIns="0" lIns="0" bIns="0" rIns="0">
              <a:spAutoFit/>
            </a:bodyPr>
            <a:lstStyle/>
            <a:p>
              <a:pPr algn="ctr" marL="0" indent="0" lvl="0">
                <a:lnSpc>
                  <a:spcPts val="2871"/>
                </a:lnSpc>
                <a:spcBef>
                  <a:spcPct val="0"/>
                </a:spcBef>
              </a:pPr>
              <a:r>
                <a:rPr lang="en-US" sz="2051" spc="4">
                  <a:solidFill>
                    <a:srgbClr val="FFFFFF"/>
                  </a:solidFill>
                  <a:latin typeface="Open Sauce"/>
                  <a:ea typeface="Open Sauce"/>
                  <a:cs typeface="Open Sauce"/>
                  <a:sym typeface="Open Sauce"/>
                </a:rPr>
                <a:t>HR View</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DAG5Vr4xZqc</dc:identifier>
  <dcterms:modified xsi:type="dcterms:W3CDTF">2011-08-01T06:04:30Z</dcterms:modified>
  <cp:revision>1</cp:revision>
  <dc:title>Black and Purple Modern Programming Presentation</dc:title>
</cp:coreProperties>
</file>